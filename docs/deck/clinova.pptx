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Clinova is a flight simulator for non-small cell lung cancer trial protocols. A study designer pastes a draft protocol or an NCT ID, and Clinova shows where enrollment will stall and where patients will drop out, before the protocol is final. The difference from other tools is proof: every prediction is graded against how real ClinicalTrials.gov trials turned out, on trials the model never saw. Clinova advises the author; it never approves a protocol. Pitch wording: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Delays are designed in. 57% of protocols get a substantial amendment and 45% of those were avoidable (Starter Sheet 01). Each costs a median $141K in Phase II and $535K in Phase III plus about 3 months (Starter Sheet 01). Of 8,687 US cancer trials, 22.74% were terminated, and accrual was the top specific reason at 34.5% (PMC10028157). All figures: docs/ARCHITECTURE.md section 2. The FDA-commissioned cost study names looser enrollment rules and simpler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changed. First, ClinicalTrials.gov keeps every registered version of a protocol, so when a sponsor widens a rule, that edit is public. Starter Sheet 01 assumes amendment data is private; we use version history as a public proxy instead, so every claim can be checked. Second, an LLM can turn free-text eligibility into rules code can check. Third, the Tufts CSDD 2024 benchmark finds full AI adoption lowest in trial design and planning. Source: docs/ARCHITECTURE.md sections 2 and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Read: Gemini turns eligibility rules and the visit schedule into code-checkable logic. Simulate: a virtual NSCLC cohort is screened in code, then persona agents decide whether to enroll and when they would drop out. Calibrate: LightGBM trained on real ClinicalTrials.gov trials gives calibrated risk, explained by SHAP. Optimize: test edits such as relaxing a criterion or cutting a visit, with ranges and a dollar value. Learn: every prediction is logged and scored when the trial ends. Source: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NCT03232892 is a test-split trial terminated on 2019-09-11, stop reason "Low Accrual" (docs/demo_trial.md). Clinova saw only its first registered protocol. Flag #1: prior platinum therapy (I3), the rule the sponsor later removed; alone it excludes 63%. The model predicts no risk change for any flag, so this is an exclusion-share ranking. Honest miss: predicted accrual-failure risk 7% (range 6% to 12%), the 50th percentile of test trials: the model misses this trial. The removal is inferred from first versus current text, not a dated version history. Source: docs/demo_results/NCT03232892.json.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results screen of the running app. Left, the funnel: virtual patients screened, excluded by each criterion, enrolled and completing, with the biggest exclusion highlighted. Middle, risk: probabilities of accrual failure and enrollment shortfall, each with a range, a confidence badge and the top drivers in plain words. Right, three fixes the author can accept or reject. Everything else sits behind tabs: validation, replay, community pulse and the audit log. Screenshot: docs/screens/03-results.png.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NCT03232892 the optimizer, Optuna NSGA-II over at most three edits, returns three representative fixes. Fastest enrollment: enrollment speed +101%, dropout +4.4 pts. Fewest dropouts: enrollment speed +53%, dropout -2.0 pts. Balanced: enrollment speed +95%, dropout +3.6 pts. Ranges span 5 cohort seeds. We show no dollars: the amendment model has no positive labels yet. 1 of the three include a rule the sponsor later removed. Source: docs/demo_results/NCT03232892_optimize.json.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ClinicalTrials.gov records and their version history are ingested and labelled into Tiger Data, which is Postgres with TimescaleDB and pgvector. Gemini parses criteria; a code screen and persona agents simulate the cohort; LightGBM with SHAP scores risk; the optimizer re-scores every candidate edit in milliseconds; the learning loop logs and grades every prediction. Judges run it with one Docker Compose command and cached AI outputs. Four AI orchestrators across two model families ran 27 task prompts (count of orchestration/tasks/*.md).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trials starting before 2018 (1,424); test: 2018 or later (360). Accrual-failure AUC is 0.70 against 0.66 for a logistic baseline. The paired gain is +0.04, interval −0.04 to +0.12; over sponsor type alone +0.03. So it ranks failures above chance but is not shown to beat simple baselines. Shortfall AUC is 0.60 vs 0.60, so it is not validated. Hit rate not computable: no test trial has an amendment label yet. Simulation ablation not computable: too few simulated trials. Model v1.0: docs/metrics.json, docs/metrics_detail.json.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replay freezes a model on 2019-12-31, then steps month by month from 2020-01 to 2023-12: it scores trials whose outcome arrives within 6 months, then adds that month's outcomes and retrains. The frozen arm never retrains. Pooled over 1,736 scored windows the retrained Brier is 0.078 against 0.077 frozen. Windows overlap, so this is descriptive, not a significance test. Source: docs/replay.json.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Accrual AUC is above chance, but its paired gain over a logistic baseline includes zero. Version histories are not loaded yet, so hit rate and amendment risk are unmeasured. Clinical traits come from published distributions; too few simulated trials to test their benefit. They rank protocols against similar trials; they do not show that a rule caused a failure. Clinova uses no real patient data, advises the protocol author, logs every accept and reject, and never approves a protocol. Sources: docs/gate2_report.md, docs/metrics.json notes.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expand beyond NSCLC to lymphoma, ophthalmology and immunology; simulate enrollment site by site; tune the persona model on expert feedback; accept structured protocols in ICH M11 format; and build a full GxP validation package. Everything is open source under MIT at https://github.com/RaghulKS/Clinova. One docker compose command starts the database, API and app, and demo mode runs on cached AI outputs with no keys. Roadmap: docs/ARCHITECTURE.md section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TextBox 1"/>
          <p:cNvSpPr txBox="1"/>
          <p:nvPr/>
        </p:nvSpPr>
        <p:spPr>
          <a:xfrm>
            <a:off x="640080" y="1600200"/>
            <a:ext cx="6035040" cy="914400"/>
          </a:xfrm>
          <a:prstGeom prst="rect">
            <a:avLst/>
          </a:prstGeom>
          <a:noFill/>
        </p:spPr>
        <p:txBody>
          <a:bodyPr wrap="square" lIns="0" rIns="0" tIns="0" bIns="0" anchor="t"/>
          <a:lstStyle/>
          <a:p>
            <a:pPr algn="l">
              <a:lnSpc>
                <a:spcPct val="110000"/>
              </a:lnSpc>
              <a:spcAft>
                <a:spcPts val="0"/>
              </a:spcAft>
            </a:pPr>
            <a:r>
              <a:rPr sz="6600" b="1" i="0">
                <a:solidFill>
                  <a:srgbClr val="FFFFFF"/>
                </a:solidFill>
                <a:latin typeface="Arial"/>
              </a:rPr>
              <a:t>Clinova</a:t>
            </a:r>
          </a:p>
        </p:txBody>
      </p:sp>
      <p:sp>
        <p:nvSpPr>
          <p:cNvPr id="3" name="TextBox 2"/>
          <p:cNvSpPr txBox="1"/>
          <p:nvPr/>
        </p:nvSpPr>
        <p:spPr>
          <a:xfrm>
            <a:off x="640080" y="2697480"/>
            <a:ext cx="5852160" cy="1188720"/>
          </a:xfrm>
          <a:prstGeom prst="rect">
            <a:avLst/>
          </a:prstGeom>
          <a:noFill/>
        </p:spPr>
        <p:txBody>
          <a:bodyPr wrap="square" lIns="0" rIns="0" tIns="0" bIns="0" anchor="t"/>
          <a:lstStyle/>
          <a:p>
            <a:pPr algn="l">
              <a:lnSpc>
                <a:spcPct val="115000"/>
              </a:lnSpc>
              <a:spcAft>
                <a:spcPts val="0"/>
              </a:spcAft>
            </a:pPr>
            <a:r>
              <a:rPr sz="2400" b="0" i="0">
                <a:solidFill>
                  <a:srgbClr val="FFFFFF"/>
                </a:solidFill>
                <a:latin typeface="Arial"/>
              </a:rPr>
              <a:t>Test-fly your NSCLC trial on thousands of virtual patients before enrolling a real one</a:t>
            </a:r>
          </a:p>
        </p:txBody>
      </p:sp>
      <p:sp>
        <p:nvSpPr>
          <p:cNvPr id="4" name="TextBox 3"/>
          <p:cNvSpPr txBox="1"/>
          <p:nvPr/>
        </p:nvSpPr>
        <p:spPr>
          <a:xfrm>
            <a:off x="640080" y="4206240"/>
            <a:ext cx="5760720" cy="914400"/>
          </a:xfrm>
          <a:prstGeom prst="rect">
            <a:avLst/>
          </a:prstGeom>
          <a:noFill/>
        </p:spPr>
        <p:txBody>
          <a:bodyPr wrap="square" lIns="0" rIns="0" tIns="0" bIns="0" anchor="t"/>
          <a:lstStyle/>
          <a:p>
            <a:pPr algn="l">
              <a:lnSpc>
                <a:spcPct val="115000"/>
              </a:lnSpc>
              <a:spcAft>
                <a:spcPts val="0"/>
              </a:spcAft>
            </a:pPr>
            <a:r>
              <a:rPr sz="1800" b="0" i="0">
                <a:solidFill>
                  <a:srgbClr val="BFDCDD"/>
                </a:solidFill>
                <a:latin typeface="Arial"/>
              </a:rPr>
              <a:t>Every prediction is graded against how real ClinicalTrials.gov trials turned out</a:t>
            </a:r>
          </a:p>
        </p:txBody>
      </p:sp>
      <p:sp>
        <p:nvSpPr>
          <p:cNvPr id="5" name="TextBox 4"/>
          <p:cNvSpPr txBox="1"/>
          <p:nvPr/>
        </p:nvSpPr>
        <p:spPr>
          <a:xfrm>
            <a:off x="640080" y="5806440"/>
            <a:ext cx="6400800" cy="365760"/>
          </a:xfrm>
          <a:prstGeom prst="rect">
            <a:avLst/>
          </a:prstGeom>
          <a:noFill/>
        </p:spPr>
        <p:txBody>
          <a:bodyPr wrap="square" lIns="0" rIns="0" tIns="0" bIns="0" anchor="t"/>
          <a:lstStyle/>
          <a:p>
            <a:pPr algn="l">
              <a:lnSpc>
                <a:spcPct val="110000"/>
              </a:lnSpc>
              <a:spcAft>
                <a:spcPts val="0"/>
              </a:spcAft>
            </a:pPr>
            <a:r>
              <a:rPr sz="1500" b="0" i="0">
                <a:solidFill>
                  <a:srgbClr val="BFDCDD"/>
                </a:solidFill>
                <a:latin typeface="Arial"/>
              </a:rPr>
              <a:t>https://github.com/RaghulKS/Clinova</a:t>
            </a:r>
          </a:p>
        </p:txBody>
      </p:sp>
      <p:sp>
        <p:nvSpPr>
          <p:cNvPr id="6" name="Rounded Rectangle 5"/>
          <p:cNvSpPr/>
          <p:nvPr/>
        </p:nvSpPr>
        <p:spPr>
          <a:xfrm>
            <a:off x="6766560" y="1554480"/>
            <a:ext cx="4846320" cy="3657600"/>
          </a:xfrm>
          <a:prstGeom prst="roundRect">
            <a:avLst>
              <a:gd name="adj" fmla="val 3000"/>
            </a:avLst>
          </a:prstGeom>
          <a:solidFill>
            <a:srgbClr val="FFFFFF"/>
          </a:solidFill>
          <a:ln>
            <a:noFill/>
          </a:ln>
        </p:spPr>
        <p:txBody>
          <a:bodyPr rtlCol="0" anchor="ctr"/>
          <a:lstStyle/>
          <a:p>
            <a:pPr algn="ctr"/>
          </a:p>
        </p:txBody>
      </p:sp>
      <p:pic>
        <p:nvPicPr>
          <p:cNvPr id="7" name="Picture 6" descr="screen_title.png"/>
          <p:cNvPicPr>
            <a:picLocks noChangeAspect="1"/>
          </p:cNvPicPr>
          <p:nvPr/>
        </p:nvPicPr>
        <p:blipFill>
          <a:blip r:embed="rId2"/>
          <a:stretch>
            <a:fillRect/>
          </a:stretch>
        </p:blipFill>
        <p:spPr>
          <a:xfrm>
            <a:off x="6812280" y="1600200"/>
            <a:ext cx="4754880" cy="3566160"/>
          </a:xfrm>
          <a:prstGeom prst="rect">
            <a:avLst/>
          </a:prstGeom>
        </p:spPr>
      </p:pic>
      <p:sp>
        <p:nvSpPr>
          <p:cNvPr id="8" name="TextBox 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01752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57%</a:t>
            </a:r>
          </a:p>
        </p:txBody>
      </p:sp>
      <p:sp>
        <p:nvSpPr>
          <p:cNvPr id="4" name="TextBox 3"/>
          <p:cNvSpPr txBox="1"/>
          <p:nvPr/>
        </p:nvSpPr>
        <p:spPr>
          <a:xfrm>
            <a:off x="96011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protocols need a substantial amendment</a:t>
            </a:r>
          </a:p>
        </p:txBody>
      </p:sp>
      <p:sp>
        <p:nvSpPr>
          <p:cNvPr id="5" name="TextBox 4"/>
          <p:cNvSpPr txBox="1"/>
          <p:nvPr/>
        </p:nvSpPr>
        <p:spPr>
          <a:xfrm>
            <a:off x="96011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45% of those are avoidable</a:t>
            </a:r>
          </a:p>
        </p:txBody>
      </p:sp>
      <p:sp>
        <p:nvSpPr>
          <p:cNvPr id="6" name="Rounded Rectangle 5"/>
          <p:cNvSpPr/>
          <p:nvPr/>
        </p:nvSpPr>
        <p:spPr>
          <a:xfrm>
            <a:off x="4343400" y="2331720"/>
            <a:ext cx="3429000" cy="3017520"/>
          </a:xfrm>
          <a:prstGeom prst="roundRect">
            <a:avLst>
              <a:gd name="adj" fmla="val 8000"/>
            </a:avLst>
          </a:prstGeom>
          <a:solidFill>
            <a:srgbClr val="E9F2F2"/>
          </a:solidFill>
          <a:ln>
            <a:noFill/>
          </a:ln>
        </p:spPr>
        <p:txBody>
          <a:bodyPr rtlCol="0" anchor="ctr"/>
          <a:lstStyle/>
          <a:p>
            <a:pPr algn="ctr"/>
          </a:p>
        </p:txBody>
      </p:sp>
      <p:sp>
        <p:nvSpPr>
          <p:cNvPr id="7" name="TextBox 6"/>
          <p:cNvSpPr txBox="1"/>
          <p:nvPr/>
        </p:nvSpPr>
        <p:spPr>
          <a:xfrm>
            <a:off x="4663440"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$535K</a:t>
            </a:r>
          </a:p>
        </p:txBody>
      </p:sp>
      <p:sp>
        <p:nvSpPr>
          <p:cNvPr id="8" name="TextBox 7"/>
          <p:cNvSpPr txBox="1"/>
          <p:nvPr/>
        </p:nvSpPr>
        <p:spPr>
          <a:xfrm>
            <a:off x="4663440"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median cost of one Phase III amendment</a:t>
            </a:r>
          </a:p>
        </p:txBody>
      </p:sp>
      <p:sp>
        <p:nvSpPr>
          <p:cNvPr id="9" name="TextBox 8"/>
          <p:cNvSpPr txBox="1"/>
          <p:nvPr/>
        </p:nvSpPr>
        <p:spPr>
          <a:xfrm>
            <a:off x="4663440"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$141K in Phase II, plus about 3 months</a:t>
            </a:r>
          </a:p>
        </p:txBody>
      </p:sp>
      <p:sp>
        <p:nvSpPr>
          <p:cNvPr id="10" name="Rounded Rectangle 9"/>
          <p:cNvSpPr/>
          <p:nvPr/>
        </p:nvSpPr>
        <p:spPr>
          <a:xfrm>
            <a:off x="8046719" y="2331720"/>
            <a:ext cx="3429000" cy="3017520"/>
          </a:xfrm>
          <a:prstGeom prst="roundRect">
            <a:avLst>
              <a:gd name="adj" fmla="val 8000"/>
            </a:avLst>
          </a:prstGeom>
          <a:solidFill>
            <a:srgbClr val="E9F2F2"/>
          </a:solidFill>
          <a:ln>
            <a:noFill/>
          </a:ln>
        </p:spPr>
        <p:txBody>
          <a:bodyPr rtlCol="0" anchor="ctr"/>
          <a:lstStyle/>
          <a:p>
            <a:pPr algn="ctr"/>
          </a:p>
        </p:txBody>
      </p:sp>
      <p:sp>
        <p:nvSpPr>
          <p:cNvPr id="11" name="TextBox 10"/>
          <p:cNvSpPr txBox="1"/>
          <p:nvPr/>
        </p:nvSpPr>
        <p:spPr>
          <a:xfrm>
            <a:off x="836675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34.5%</a:t>
            </a:r>
          </a:p>
        </p:txBody>
      </p:sp>
      <p:sp>
        <p:nvSpPr>
          <p:cNvPr id="12" name="TextBox 11"/>
          <p:cNvSpPr txBox="1"/>
          <p:nvPr/>
        </p:nvSpPr>
        <p:spPr>
          <a:xfrm>
            <a:off x="836675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cancer-trial terminations: low accrual, the top reason</a:t>
            </a:r>
          </a:p>
        </p:txBody>
      </p:sp>
      <p:sp>
        <p:nvSpPr>
          <p:cNvPr id="13" name="TextBox 12"/>
          <p:cNvSpPr txBox="1"/>
          <p:nvPr/>
        </p:nvSpPr>
        <p:spPr>
          <a:xfrm>
            <a:off x="836675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22.74% of 8,687 US cancer trials terminated</a:t>
            </a:r>
          </a:p>
        </p:txBody>
      </p:sp>
      <p:sp>
        <p:nvSpPr>
          <p:cNvPr id="14" name="TextBox 13"/>
          <p:cNvSpPr txBox="1"/>
          <p:nvPr/>
        </p:nvSpPr>
        <p:spPr>
          <a:xfrm>
            <a:off x="640080" y="5623560"/>
            <a:ext cx="10911535" cy="365760"/>
          </a:xfrm>
          <a:prstGeom prst="rect">
            <a:avLst/>
          </a:prstGeom>
          <a:noFill/>
        </p:spPr>
        <p:txBody>
          <a:bodyPr wrap="square" lIns="0" rIns="0" tIns="0" bIns="0" anchor="t"/>
          <a:lstStyle/>
          <a:p>
            <a:pPr algn="l">
              <a:lnSpc>
                <a:spcPct val="110000"/>
              </a:lnSpc>
              <a:spcAft>
                <a:spcPts val="0"/>
              </a:spcAft>
            </a:pPr>
            <a:r>
              <a:rPr sz="1700" b="0" i="0">
                <a:solidFill>
                  <a:srgbClr val="1B2A30"/>
                </a:solidFill>
                <a:latin typeface="Arial"/>
              </a:rPr>
              <a:t>Clinova pulls the two levers the FDA cost study names: looser enrollment rules and simpler protocols</a:t>
            </a:r>
          </a:p>
        </p:txBody>
      </p:sp>
      <p:sp>
        <p:nvSpPr>
          <p:cNvPr id="15" name="TextBox 1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THE PROBLEM</a:t>
            </a:r>
          </a:p>
        </p:txBody>
      </p:sp>
      <p:sp>
        <p:nvSpPr>
          <p:cNvPr id="1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Most trial delays are written into the protocol before the first patient is screened</a:t>
            </a:r>
          </a:p>
        </p:txBody>
      </p:sp>
      <p:sp>
        <p:nvSpPr>
          <p:cNvPr id="17" name="TextBox 1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2 / 12</a:t>
            </a:r>
          </a:p>
        </p:txBody>
      </p:sp>
      <p:sp>
        <p:nvSpPr>
          <p:cNvPr id="18" name="TextBox 1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24612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6011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6011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Amendments are public</a:t>
            </a:r>
          </a:p>
        </p:txBody>
      </p:sp>
      <p:sp>
        <p:nvSpPr>
          <p:cNvPr id="5" name="TextBox 4"/>
          <p:cNvSpPr txBox="1"/>
          <p:nvPr/>
        </p:nvSpPr>
        <p:spPr>
          <a:xfrm>
            <a:off x="96011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ClinicalTrials.gov keeps every registered version, so a widened rule is a checkable label</a:t>
            </a:r>
          </a:p>
        </p:txBody>
      </p:sp>
      <p:sp>
        <p:nvSpPr>
          <p:cNvPr id="6" name="Rounded Rectangle 5"/>
          <p:cNvSpPr/>
          <p:nvPr/>
        </p:nvSpPr>
        <p:spPr>
          <a:xfrm>
            <a:off x="4343400" y="2331720"/>
            <a:ext cx="3429000" cy="3246120"/>
          </a:xfrm>
          <a:prstGeom prst="roundRect">
            <a:avLst>
              <a:gd name="adj" fmla="val 8000"/>
            </a:avLst>
          </a:prstGeom>
          <a:solidFill>
            <a:srgbClr val="E9F2F2"/>
          </a:solidFill>
          <a:ln>
            <a:noFill/>
          </a:ln>
        </p:spPr>
        <p:txBody>
          <a:bodyPr rtlCol="0" anchor="ctr"/>
          <a:lstStyle/>
          <a:p>
            <a:pPr algn="ctr"/>
          </a:p>
        </p:txBody>
      </p:sp>
      <p:sp>
        <p:nvSpPr>
          <p:cNvPr id="7" name="Oval 6"/>
          <p:cNvSpPr/>
          <p:nvPr/>
        </p:nvSpPr>
        <p:spPr>
          <a:xfrm>
            <a:off x="4663440"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8" name="TextBox 7"/>
          <p:cNvSpPr txBox="1"/>
          <p:nvPr/>
        </p:nvSpPr>
        <p:spPr>
          <a:xfrm>
            <a:off x="4663440"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LLMs read eligibility</a:t>
            </a:r>
          </a:p>
        </p:txBody>
      </p:sp>
      <p:sp>
        <p:nvSpPr>
          <p:cNvPr id="9" name="TextBox 8"/>
          <p:cNvSpPr txBox="1"/>
          <p:nvPr/>
        </p:nvSpPr>
        <p:spPr>
          <a:xfrm>
            <a:off x="4663440"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Gemini turns free-text criteria into rules that code can check on virtual patients</a:t>
            </a:r>
          </a:p>
        </p:txBody>
      </p:sp>
      <p:sp>
        <p:nvSpPr>
          <p:cNvPr id="10" name="Rounded Rectangle 9"/>
          <p:cNvSpPr/>
          <p:nvPr/>
        </p:nvSpPr>
        <p:spPr>
          <a:xfrm>
            <a:off x="8046719" y="2331720"/>
            <a:ext cx="3429000" cy="3246120"/>
          </a:xfrm>
          <a:prstGeom prst="roundRect">
            <a:avLst>
              <a:gd name="adj" fmla="val 8000"/>
            </a:avLst>
          </a:prstGeom>
          <a:solidFill>
            <a:srgbClr val="E9F2F2"/>
          </a:solidFill>
          <a:ln>
            <a:noFill/>
          </a:ln>
        </p:spPr>
        <p:txBody>
          <a:bodyPr rtlCol="0" anchor="ctr"/>
          <a:lstStyle/>
          <a:p>
            <a:pPr algn="ctr"/>
          </a:p>
        </p:txBody>
      </p:sp>
      <p:sp>
        <p:nvSpPr>
          <p:cNvPr id="11" name="Oval 10"/>
          <p:cNvSpPr/>
          <p:nvPr/>
        </p:nvSpPr>
        <p:spPr>
          <a:xfrm>
            <a:off x="836675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2" name="TextBox 11"/>
          <p:cNvSpPr txBox="1"/>
          <p:nvPr/>
        </p:nvSpPr>
        <p:spPr>
          <a:xfrm>
            <a:off x="836675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Design is the AI gap</a:t>
            </a:r>
          </a:p>
        </p:txBody>
      </p:sp>
      <p:sp>
        <p:nvSpPr>
          <p:cNvPr id="13" name="TextBox 12"/>
          <p:cNvSpPr txBox="1"/>
          <p:nvPr/>
        </p:nvSpPr>
        <p:spPr>
          <a:xfrm>
            <a:off x="836675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Tufts CSDD 2024: full AI adoption is lowest in trial design and planning</a:t>
            </a:r>
          </a:p>
        </p:txBody>
      </p:sp>
      <p:sp>
        <p:nvSpPr>
          <p:cNvPr id="14" name="TextBox 1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WHY NOW</a:t>
            </a:r>
          </a:p>
        </p:txBody>
      </p:sp>
      <p:sp>
        <p:nvSpPr>
          <p:cNvPr id="1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Public version history and LLM parsing make protocol risk checkable today</a:t>
            </a:r>
          </a:p>
        </p:txBody>
      </p:sp>
      <p:sp>
        <p:nvSpPr>
          <p:cNvPr id="16" name="TextBox 1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3 / 12</a:t>
            </a:r>
          </a:p>
        </p:txBody>
      </p:sp>
      <p:sp>
        <p:nvSpPr>
          <p:cNvPr id="17" name="TextBox 1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560320"/>
            <a:ext cx="1962851" cy="292608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14400"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14400"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Read</a:t>
            </a:r>
          </a:p>
        </p:txBody>
      </p:sp>
      <p:sp>
        <p:nvSpPr>
          <p:cNvPr id="5" name="TextBox 4"/>
          <p:cNvSpPr txBox="1"/>
          <p:nvPr/>
        </p:nvSpPr>
        <p:spPr>
          <a:xfrm>
            <a:off x="914400"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Draft text or NCT ID to coded rules and visits</a:t>
            </a:r>
          </a:p>
        </p:txBody>
      </p:sp>
      <p:cxnSp>
        <p:nvCxnSpPr>
          <p:cNvPr id="6" name="Connector 5"/>
          <p:cNvCxnSpPr/>
          <p:nvPr/>
        </p:nvCxnSpPr>
        <p:spPr>
          <a:xfrm>
            <a:off x="2630363"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77251" y="2560320"/>
            <a:ext cx="1962851" cy="2926080"/>
          </a:xfrm>
          <a:prstGeom prst="roundRect">
            <a:avLst>
              <a:gd name="adj" fmla="val 8000"/>
            </a:avLst>
          </a:prstGeom>
          <a:solidFill>
            <a:srgbClr val="E9F2F2"/>
          </a:solidFill>
          <a:ln>
            <a:noFill/>
          </a:ln>
        </p:spPr>
        <p:txBody>
          <a:bodyPr rtlCol="0" anchor="ctr"/>
          <a:lstStyle/>
          <a:p>
            <a:pPr algn="ctr"/>
          </a:p>
        </p:txBody>
      </p:sp>
      <p:sp>
        <p:nvSpPr>
          <p:cNvPr id="8" name="Oval 7"/>
          <p:cNvSpPr/>
          <p:nvPr/>
        </p:nvSpPr>
        <p:spPr>
          <a:xfrm>
            <a:off x="3151571"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9" name="TextBox 8"/>
          <p:cNvSpPr txBox="1"/>
          <p:nvPr/>
        </p:nvSpPr>
        <p:spPr>
          <a:xfrm>
            <a:off x="3151571"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Simulate</a:t>
            </a:r>
          </a:p>
        </p:txBody>
      </p:sp>
      <p:sp>
        <p:nvSpPr>
          <p:cNvPr id="10" name="TextBox 9"/>
          <p:cNvSpPr txBox="1"/>
          <p:nvPr/>
        </p:nvSpPr>
        <p:spPr>
          <a:xfrm>
            <a:off x="3151571"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Virtual NSCLC cohort, screened in code; persona agents decide</a:t>
            </a:r>
          </a:p>
        </p:txBody>
      </p:sp>
      <p:cxnSp>
        <p:nvCxnSpPr>
          <p:cNvPr id="11" name="Connector 10"/>
          <p:cNvCxnSpPr/>
          <p:nvPr/>
        </p:nvCxnSpPr>
        <p:spPr>
          <a:xfrm>
            <a:off x="4867534"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4422" y="2560320"/>
            <a:ext cx="1962851" cy="2926080"/>
          </a:xfrm>
          <a:prstGeom prst="roundRect">
            <a:avLst>
              <a:gd name="adj" fmla="val 8000"/>
            </a:avLst>
          </a:prstGeom>
          <a:solidFill>
            <a:srgbClr val="E9F2F2"/>
          </a:solidFill>
          <a:ln>
            <a:noFill/>
          </a:ln>
        </p:spPr>
        <p:txBody>
          <a:bodyPr rtlCol="0" anchor="ctr"/>
          <a:lstStyle/>
          <a:p>
            <a:pPr algn="ctr"/>
          </a:p>
        </p:txBody>
      </p:sp>
      <p:sp>
        <p:nvSpPr>
          <p:cNvPr id="13" name="Oval 12"/>
          <p:cNvSpPr/>
          <p:nvPr/>
        </p:nvSpPr>
        <p:spPr>
          <a:xfrm>
            <a:off x="5388742"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4" name="TextBox 13"/>
          <p:cNvSpPr txBox="1"/>
          <p:nvPr/>
        </p:nvSpPr>
        <p:spPr>
          <a:xfrm>
            <a:off x="5388742"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Calibrate</a:t>
            </a:r>
          </a:p>
        </p:txBody>
      </p:sp>
      <p:sp>
        <p:nvSpPr>
          <p:cNvPr id="15" name="TextBox 14"/>
          <p:cNvSpPr txBox="1"/>
          <p:nvPr/>
        </p:nvSpPr>
        <p:spPr>
          <a:xfrm>
            <a:off x="5388742"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LightGBM on real trials, explained by SHAP</a:t>
            </a:r>
          </a:p>
        </p:txBody>
      </p:sp>
      <p:cxnSp>
        <p:nvCxnSpPr>
          <p:cNvPr id="16" name="Connector 15"/>
          <p:cNvCxnSpPr/>
          <p:nvPr/>
        </p:nvCxnSpPr>
        <p:spPr>
          <a:xfrm>
            <a:off x="7104705"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351593" y="2560320"/>
            <a:ext cx="1962851" cy="2926080"/>
          </a:xfrm>
          <a:prstGeom prst="roundRect">
            <a:avLst>
              <a:gd name="adj" fmla="val 8000"/>
            </a:avLst>
          </a:prstGeom>
          <a:solidFill>
            <a:srgbClr val="E9F2F2"/>
          </a:solidFill>
          <a:ln>
            <a:noFill/>
          </a:ln>
        </p:spPr>
        <p:txBody>
          <a:bodyPr rtlCol="0" anchor="ctr"/>
          <a:lstStyle/>
          <a:p>
            <a:pPr algn="ctr"/>
          </a:p>
        </p:txBody>
      </p:sp>
      <p:sp>
        <p:nvSpPr>
          <p:cNvPr id="18" name="Oval 17"/>
          <p:cNvSpPr/>
          <p:nvPr/>
        </p:nvSpPr>
        <p:spPr>
          <a:xfrm>
            <a:off x="7625913"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4</a:t>
            </a:r>
          </a:p>
        </p:txBody>
      </p:sp>
      <p:sp>
        <p:nvSpPr>
          <p:cNvPr id="19" name="TextBox 18"/>
          <p:cNvSpPr txBox="1"/>
          <p:nvPr/>
        </p:nvSpPr>
        <p:spPr>
          <a:xfrm>
            <a:off x="7625913"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Optimize</a:t>
            </a:r>
          </a:p>
        </p:txBody>
      </p:sp>
      <p:sp>
        <p:nvSpPr>
          <p:cNvPr id="20" name="TextBox 19"/>
          <p:cNvSpPr txBox="1"/>
          <p:nvPr/>
        </p:nvSpPr>
        <p:spPr>
          <a:xfrm>
            <a:off x="7625913"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Test edits; trade-offs with ranges and dollars</a:t>
            </a:r>
          </a:p>
        </p:txBody>
      </p:sp>
      <p:cxnSp>
        <p:nvCxnSpPr>
          <p:cNvPr id="21" name="Connector 20"/>
          <p:cNvCxnSpPr/>
          <p:nvPr/>
        </p:nvCxnSpPr>
        <p:spPr>
          <a:xfrm>
            <a:off x="9341876"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88764" y="2560320"/>
            <a:ext cx="1962851" cy="2926080"/>
          </a:xfrm>
          <a:prstGeom prst="roundRect">
            <a:avLst>
              <a:gd name="adj" fmla="val 8000"/>
            </a:avLst>
          </a:prstGeom>
          <a:solidFill>
            <a:srgbClr val="E9F2F2"/>
          </a:solidFill>
          <a:ln>
            <a:noFill/>
          </a:ln>
        </p:spPr>
        <p:txBody>
          <a:bodyPr rtlCol="0" anchor="ctr"/>
          <a:lstStyle/>
          <a:p>
            <a:pPr algn="ctr"/>
          </a:p>
        </p:txBody>
      </p:sp>
      <p:sp>
        <p:nvSpPr>
          <p:cNvPr id="23" name="Oval 22"/>
          <p:cNvSpPr/>
          <p:nvPr/>
        </p:nvSpPr>
        <p:spPr>
          <a:xfrm>
            <a:off x="9863084"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5</a:t>
            </a:r>
          </a:p>
        </p:txBody>
      </p:sp>
      <p:sp>
        <p:nvSpPr>
          <p:cNvPr id="24" name="TextBox 23"/>
          <p:cNvSpPr txBox="1"/>
          <p:nvPr/>
        </p:nvSpPr>
        <p:spPr>
          <a:xfrm>
            <a:off x="9863084"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Learn</a:t>
            </a:r>
          </a:p>
        </p:txBody>
      </p:sp>
      <p:sp>
        <p:nvSpPr>
          <p:cNvPr id="25" name="TextBox 24"/>
          <p:cNvSpPr txBox="1"/>
          <p:nvPr/>
        </p:nvSpPr>
        <p:spPr>
          <a:xfrm>
            <a:off x="9863084"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Log every prediction, score it when the trial ends</a:t>
            </a:r>
          </a:p>
        </p:txBody>
      </p:sp>
      <p:sp>
        <p:nvSpPr>
          <p:cNvPr id="26" name="TextBox 2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WHAT CLINOVA DOES</a:t>
            </a:r>
          </a:p>
        </p:txBody>
      </p:sp>
      <p:sp>
        <p:nvSpPr>
          <p:cNvPr id="2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Clinova test-flies a protocol in five steps, from draft text to a graded risk</a:t>
            </a:r>
          </a:p>
        </p:txBody>
      </p:sp>
      <p:sp>
        <p:nvSpPr>
          <p:cNvPr id="28" name="TextBox 2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4 / 12</a:t>
            </a:r>
          </a:p>
        </p:txBody>
      </p:sp>
      <p:sp>
        <p:nvSpPr>
          <p:cNvPr id="29" name="TextBox 2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demo_flags.png"/>
          <p:cNvPicPr>
            <a:picLocks noChangeAspect="1"/>
          </p:cNvPicPr>
          <p:nvPr/>
        </p:nvPicPr>
        <p:blipFill>
          <a:blip r:embed="rId2"/>
          <a:stretch>
            <a:fillRect/>
          </a:stretch>
        </p:blipFill>
        <p:spPr>
          <a:xfrm>
            <a:off x="640080" y="2567538"/>
            <a:ext cx="5760719" cy="2728762"/>
          </a:xfrm>
          <a:prstGeom prst="rect">
            <a:avLst/>
          </a:prstGeom>
        </p:spPr>
      </p:pic>
      <p:sp>
        <p:nvSpPr>
          <p:cNvPr id="3" name="TextBox 2"/>
          <p:cNvSpPr txBox="1"/>
          <p:nvPr/>
        </p:nvSpPr>
        <p:spPr>
          <a:xfrm>
            <a:off x="640080" y="2240280"/>
            <a:ext cx="5760720" cy="36576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Top 3 flags: share of virtual patients each rule excludes on its own</a:t>
            </a:r>
          </a:p>
        </p:txBody>
      </p:sp>
      <p:sp>
        <p:nvSpPr>
          <p:cNvPr id="4" name="TextBox 3"/>
          <p:cNvSpPr txBox="1"/>
          <p:nvPr/>
        </p:nvSpPr>
        <p:spPr>
          <a:xfrm>
            <a:off x="640080" y="5440680"/>
            <a:ext cx="5760720" cy="365760"/>
          </a:xfrm>
          <a:prstGeom prst="rect">
            <a:avLst/>
          </a:prstGeom>
          <a:noFill/>
        </p:spPr>
        <p:txBody>
          <a:bodyPr wrap="square" lIns="0" rIns="0" tIns="0" bIns="0" anchor="t"/>
          <a:lstStyle/>
          <a:p>
            <a:pPr algn="l">
              <a:lnSpc>
                <a:spcPct val="110000"/>
              </a:lnSpc>
              <a:spcAft>
                <a:spcPts val="0"/>
              </a:spcAft>
            </a:pPr>
            <a:r>
              <a:rPr sz="1400" b="0" i="0">
                <a:solidFill>
                  <a:srgbClr val="C8492F"/>
                </a:solidFill>
                <a:latin typeface="Arial"/>
              </a:rPr>
              <a:t>Coral: the rule the sponsor later removed</a:t>
            </a:r>
          </a:p>
        </p:txBody>
      </p:sp>
      <p:sp>
        <p:nvSpPr>
          <p:cNvPr id="5" name="TextBox 4"/>
          <p:cNvSpPr txBox="1"/>
          <p:nvPr/>
        </p:nvSpPr>
        <p:spPr>
          <a:xfrm>
            <a:off x="6812280" y="2194560"/>
            <a:ext cx="4739335" cy="457200"/>
          </a:xfrm>
          <a:prstGeom prst="rect">
            <a:avLst/>
          </a:prstGeom>
          <a:noFill/>
        </p:spPr>
        <p:txBody>
          <a:bodyPr wrap="square" lIns="0" rIns="0" tIns="0" bIns="0" anchor="t"/>
          <a:lstStyle/>
          <a:p>
            <a:pPr algn="l">
              <a:lnSpc>
                <a:spcPct val="110000"/>
              </a:lnSpc>
              <a:spcAft>
                <a:spcPts val="0"/>
              </a:spcAft>
            </a:pPr>
            <a:r>
              <a:rPr sz="2400" b="1" i="0">
                <a:solidFill>
                  <a:srgbClr val="0E5E63"/>
                </a:solidFill>
                <a:latin typeface="Arial"/>
              </a:rPr>
              <a:t>NCT03232892</a:t>
            </a:r>
          </a:p>
        </p:txBody>
      </p:sp>
      <p:sp>
        <p:nvSpPr>
          <p:cNvPr id="6" name="TextBox 5"/>
          <p:cNvSpPr txBox="1"/>
          <p:nvPr/>
        </p:nvSpPr>
        <p:spPr>
          <a:xfrm>
            <a:off x="6812280" y="2697480"/>
            <a:ext cx="4739335" cy="365760"/>
          </a:xfrm>
          <a:prstGeom prst="rect">
            <a:avLst/>
          </a:prstGeom>
          <a:noFill/>
        </p:spPr>
        <p:txBody>
          <a:bodyPr wrap="square" lIns="0" rIns="0" tIns="0" bIns="0" anchor="t"/>
          <a:lstStyle/>
          <a:p>
            <a:pPr algn="l">
              <a:lnSpc>
                <a:spcPct val="110000"/>
              </a:lnSpc>
              <a:spcAft>
                <a:spcPts val="0"/>
              </a:spcAft>
            </a:pPr>
            <a:r>
              <a:rPr sz="1600" b="0" i="0">
                <a:solidFill>
                  <a:srgbClr val="5C6A70"/>
                </a:solidFill>
                <a:latin typeface="Arial"/>
              </a:rPr>
              <a:t>Terminated 2019-09-11: “Low Accrual”</a:t>
            </a:r>
          </a:p>
        </p:txBody>
      </p:sp>
      <p:sp>
        <p:nvSpPr>
          <p:cNvPr id="7" name="TextBox 6"/>
          <p:cNvSpPr txBox="1"/>
          <p:nvPr/>
        </p:nvSpPr>
        <p:spPr>
          <a:xfrm>
            <a:off x="6812280" y="3291840"/>
            <a:ext cx="4739335" cy="292608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Flag #1: prior platinum therapy (I3), the rule the sponsor later removed; alone it excludes 63%</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Flags rank rules by how many virtual patients each excludes; the risk model does not read criteria</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Honest miss: predicted accrual-failure risk 7% (range 6% to 12%), the 50th percentile of test trials</a:t>
            </a:r>
          </a:p>
        </p:txBody>
      </p:sp>
      <p:sp>
        <p:nvSpPr>
          <p:cNvPr id="8" name="TextBox 7"/>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BACKTEST ON A REAL TERMINATED TRIAL</a:t>
            </a:r>
          </a:p>
        </p:txBody>
      </p:sp>
      <p:sp>
        <p:nvSpPr>
          <p:cNvPr id="9"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Given only its first protocol, Clinova's flag #1 was the rule the sponsor later removed</a:t>
            </a:r>
          </a:p>
        </p:txBody>
      </p:sp>
      <p:sp>
        <p:nvSpPr>
          <p:cNvPr id="10" name="TextBox 9"/>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5 / 12</a:t>
            </a:r>
          </a:p>
        </p:txBody>
      </p:sp>
      <p:sp>
        <p:nvSpPr>
          <p:cNvPr id="11" name="TextBox 10"/>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docs/demo_trial.md, docs/demo_results/NCT03232892.json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3503" y="2203704"/>
            <a:ext cx="7114032" cy="4033647"/>
          </a:xfrm>
          <a:prstGeom prst="roundRect">
            <a:avLst>
              <a:gd name="adj" fmla="val 2000"/>
            </a:avLst>
          </a:prstGeom>
          <a:solidFill>
            <a:srgbClr val="D5DDE0"/>
          </a:solidFill>
          <a:ln>
            <a:noFill/>
          </a:ln>
        </p:spPr>
        <p:txBody>
          <a:bodyPr rtlCol="0" anchor="ctr"/>
          <a:lstStyle/>
          <a:p>
            <a:pPr algn="ctr"/>
          </a:p>
        </p:txBody>
      </p:sp>
      <p:pic>
        <p:nvPicPr>
          <p:cNvPr id="3" name="Picture 2" descr="screen_results.png"/>
          <p:cNvPicPr>
            <a:picLocks noChangeAspect="1"/>
          </p:cNvPicPr>
          <p:nvPr/>
        </p:nvPicPr>
        <p:blipFill>
          <a:blip r:embed="rId2"/>
          <a:stretch>
            <a:fillRect/>
          </a:stretch>
        </p:blipFill>
        <p:spPr>
          <a:xfrm>
            <a:off x="640080" y="2240280"/>
            <a:ext cx="7040880" cy="3960495"/>
          </a:xfrm>
          <a:prstGeom prst="rect">
            <a:avLst/>
          </a:prstGeom>
        </p:spPr>
      </p:pic>
      <p:sp>
        <p:nvSpPr>
          <p:cNvPr id="4" name="TextBox 3"/>
          <p:cNvSpPr txBox="1"/>
          <p:nvPr/>
        </p:nvSpPr>
        <p:spPr>
          <a:xfrm>
            <a:off x="8138160" y="2331720"/>
            <a:ext cx="3413455" cy="365760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Funnel: who is excluded by which rule, who enrolls, who completes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Risk: probability with a range, a confidence badge and top drivers in plain words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Fixes: three trade-offs; accept one and it re-runs in seconds</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LIVE DEMO</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One screen shows the funnel, the risk and three fixes</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6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docs/screens/03-results.png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40280"/>
            <a:ext cx="3429000" cy="338328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1440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Fastest enrollment</a:t>
            </a:r>
          </a:p>
        </p:txBody>
      </p:sp>
      <p:sp>
        <p:nvSpPr>
          <p:cNvPr id="4" name="TextBox 3"/>
          <p:cNvSpPr txBox="1"/>
          <p:nvPr/>
        </p:nvSpPr>
        <p:spPr>
          <a:xfrm>
            <a:off x="91440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Widen histology rule (I1)</a:t>
            </a:r>
          </a:p>
          <a:p>
            <a:pPr algn="l">
              <a:lnSpc>
                <a:spcPct val="105000"/>
              </a:lnSpc>
              <a:spcAft>
                <a:spcPts val="0"/>
              </a:spcAft>
            </a:pPr>
            <a:r>
              <a:rPr sz="1400" b="0" i="0">
                <a:solidFill>
                  <a:srgbClr val="5C6A70"/>
                </a:solidFill>
                <a:latin typeface="Arial"/>
              </a:rPr>
              <a:t>Lift ECOG limit (I6)</a:t>
            </a:r>
          </a:p>
          <a:p>
            <a:pPr algn="l">
              <a:lnSpc>
                <a:spcPct val="105000"/>
              </a:lnSpc>
              <a:spcAft>
                <a:spcPts val="0"/>
              </a:spcAft>
            </a:pPr>
            <a:r>
              <a:rPr sz="1400" b="0" i="0">
                <a:solidFill>
                  <a:srgbClr val="5C6A70"/>
                </a:solidFill>
                <a:latin typeface="Arial"/>
              </a:rPr>
              <a:t>CrCl (I14): ≥ 50 to ≥ 20 mL/min</a:t>
            </a:r>
          </a:p>
        </p:txBody>
      </p:sp>
      <p:sp>
        <p:nvSpPr>
          <p:cNvPr id="5" name="TextBox 4"/>
          <p:cNvSpPr txBox="1"/>
          <p:nvPr/>
        </p:nvSpPr>
        <p:spPr>
          <a:xfrm>
            <a:off x="91440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6" name="TextBox 5"/>
          <p:cNvSpPr txBox="1"/>
          <p:nvPr/>
        </p:nvSpPr>
        <p:spPr>
          <a:xfrm>
            <a:off x="2377439"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+101%</a:t>
            </a:r>
          </a:p>
        </p:txBody>
      </p:sp>
      <p:sp>
        <p:nvSpPr>
          <p:cNvPr id="7" name="TextBox 6"/>
          <p:cNvSpPr txBox="1"/>
          <p:nvPr/>
        </p:nvSpPr>
        <p:spPr>
          <a:xfrm>
            <a:off x="1920239"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+98% to +137%</a:t>
            </a:r>
          </a:p>
        </p:txBody>
      </p:sp>
      <p:sp>
        <p:nvSpPr>
          <p:cNvPr id="8" name="TextBox 7"/>
          <p:cNvSpPr txBox="1"/>
          <p:nvPr/>
        </p:nvSpPr>
        <p:spPr>
          <a:xfrm>
            <a:off x="91440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9" name="TextBox 8"/>
          <p:cNvSpPr txBox="1"/>
          <p:nvPr/>
        </p:nvSpPr>
        <p:spPr>
          <a:xfrm>
            <a:off x="2377439"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+4.4 pts</a:t>
            </a:r>
          </a:p>
        </p:txBody>
      </p:sp>
      <p:sp>
        <p:nvSpPr>
          <p:cNvPr id="10" name="TextBox 9"/>
          <p:cNvSpPr txBox="1"/>
          <p:nvPr/>
        </p:nvSpPr>
        <p:spPr>
          <a:xfrm>
            <a:off x="1920239"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+4.4 pts to +6.8 pts</a:t>
            </a:r>
          </a:p>
        </p:txBody>
      </p:sp>
      <p:sp>
        <p:nvSpPr>
          <p:cNvPr id="11" name="TextBox 10"/>
          <p:cNvSpPr txBox="1"/>
          <p:nvPr/>
        </p:nvSpPr>
        <p:spPr>
          <a:xfrm>
            <a:off x="91440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12" name="TextBox 11"/>
          <p:cNvSpPr txBox="1"/>
          <p:nvPr/>
        </p:nvSpPr>
        <p:spPr>
          <a:xfrm>
            <a:off x="2377439"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+0.039</a:t>
            </a:r>
          </a:p>
        </p:txBody>
      </p:sp>
      <p:sp>
        <p:nvSpPr>
          <p:cNvPr id="13" name="Rounded Rectangle 12"/>
          <p:cNvSpPr/>
          <p:nvPr/>
        </p:nvSpPr>
        <p:spPr>
          <a:xfrm>
            <a:off x="4343400" y="2240280"/>
            <a:ext cx="3429000" cy="3383280"/>
          </a:xfrm>
          <a:prstGeom prst="roundRect">
            <a:avLst>
              <a:gd name="adj" fmla="val 8000"/>
            </a:avLst>
          </a:prstGeom>
          <a:solidFill>
            <a:srgbClr val="E9F2F2"/>
          </a:solidFill>
          <a:ln>
            <a:noFill/>
          </a:ln>
        </p:spPr>
        <p:txBody>
          <a:bodyPr rtlCol="0" anchor="ctr"/>
          <a:lstStyle/>
          <a:p>
            <a:pPr algn="ctr"/>
          </a:p>
        </p:txBody>
      </p:sp>
      <p:sp>
        <p:nvSpPr>
          <p:cNvPr id="14" name="TextBox 13"/>
          <p:cNvSpPr txBox="1"/>
          <p:nvPr/>
        </p:nvSpPr>
        <p:spPr>
          <a:xfrm>
            <a:off x="461772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Fewest dropouts</a:t>
            </a:r>
          </a:p>
        </p:txBody>
      </p:sp>
      <p:sp>
        <p:nvSpPr>
          <p:cNvPr id="15" name="TextBox 14"/>
          <p:cNvSpPr txBox="1"/>
          <p:nvPr/>
        </p:nvSpPr>
        <p:spPr>
          <a:xfrm>
            <a:off x="461772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Drop bilirubin rule (I11)</a:t>
            </a:r>
          </a:p>
          <a:p>
            <a:pPr algn="l">
              <a:lnSpc>
                <a:spcPct val="105000"/>
              </a:lnSpc>
              <a:spcAft>
                <a:spcPts val="0"/>
              </a:spcAft>
            </a:pPr>
            <a:r>
              <a:rPr sz="1400" b="0" i="0">
                <a:solidFill>
                  <a:srgbClr val="5C6A70"/>
                </a:solidFill>
                <a:latin typeface="Arial"/>
              </a:rPr>
              <a:t>Drop histology rule (I1)</a:t>
            </a:r>
          </a:p>
          <a:p>
            <a:pPr algn="l">
              <a:lnSpc>
                <a:spcPct val="105000"/>
              </a:lnSpc>
              <a:spcAft>
                <a:spcPts val="0"/>
              </a:spcAft>
            </a:pPr>
            <a:r>
              <a:rPr sz="1400" b="0" i="0">
                <a:solidFill>
                  <a:srgbClr val="5C6A70"/>
                </a:solidFill>
                <a:latin typeface="Arial"/>
              </a:rPr>
              <a:t>Drop cardiac exclusion (E6)</a:t>
            </a:r>
          </a:p>
        </p:txBody>
      </p:sp>
      <p:sp>
        <p:nvSpPr>
          <p:cNvPr id="16" name="TextBox 15"/>
          <p:cNvSpPr txBox="1"/>
          <p:nvPr/>
        </p:nvSpPr>
        <p:spPr>
          <a:xfrm>
            <a:off x="461772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17" name="TextBox 16"/>
          <p:cNvSpPr txBox="1"/>
          <p:nvPr/>
        </p:nvSpPr>
        <p:spPr>
          <a:xfrm>
            <a:off x="6080760"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+53%</a:t>
            </a:r>
          </a:p>
        </p:txBody>
      </p:sp>
      <p:sp>
        <p:nvSpPr>
          <p:cNvPr id="18" name="TextBox 17"/>
          <p:cNvSpPr txBox="1"/>
          <p:nvPr/>
        </p:nvSpPr>
        <p:spPr>
          <a:xfrm>
            <a:off x="5623560"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+51% to +66%</a:t>
            </a:r>
          </a:p>
        </p:txBody>
      </p:sp>
      <p:sp>
        <p:nvSpPr>
          <p:cNvPr id="19" name="TextBox 18"/>
          <p:cNvSpPr txBox="1"/>
          <p:nvPr/>
        </p:nvSpPr>
        <p:spPr>
          <a:xfrm>
            <a:off x="461772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20" name="TextBox 19"/>
          <p:cNvSpPr txBox="1"/>
          <p:nvPr/>
        </p:nvSpPr>
        <p:spPr>
          <a:xfrm>
            <a:off x="6080760"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-2.0 pts</a:t>
            </a:r>
          </a:p>
        </p:txBody>
      </p:sp>
      <p:sp>
        <p:nvSpPr>
          <p:cNvPr id="21" name="TextBox 20"/>
          <p:cNvSpPr txBox="1"/>
          <p:nvPr/>
        </p:nvSpPr>
        <p:spPr>
          <a:xfrm>
            <a:off x="5623560"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-2.0 pts to +0.9 pts</a:t>
            </a:r>
          </a:p>
        </p:txBody>
      </p:sp>
      <p:sp>
        <p:nvSpPr>
          <p:cNvPr id="22" name="TextBox 21"/>
          <p:cNvSpPr txBox="1"/>
          <p:nvPr/>
        </p:nvSpPr>
        <p:spPr>
          <a:xfrm>
            <a:off x="461772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23" name="TextBox 22"/>
          <p:cNvSpPr txBox="1"/>
          <p:nvPr/>
        </p:nvSpPr>
        <p:spPr>
          <a:xfrm>
            <a:off x="6080760"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+0.019</a:t>
            </a:r>
          </a:p>
        </p:txBody>
      </p:sp>
      <p:sp>
        <p:nvSpPr>
          <p:cNvPr id="24" name="Rounded Rectangle 23"/>
          <p:cNvSpPr/>
          <p:nvPr/>
        </p:nvSpPr>
        <p:spPr>
          <a:xfrm>
            <a:off x="8046719" y="2240280"/>
            <a:ext cx="3429000" cy="3383280"/>
          </a:xfrm>
          <a:prstGeom prst="roundRect">
            <a:avLst>
              <a:gd name="adj" fmla="val 8000"/>
            </a:avLst>
          </a:prstGeom>
          <a:solidFill>
            <a:srgbClr val="E9F2F2"/>
          </a:solidFill>
          <a:ln>
            <a:noFill/>
          </a:ln>
        </p:spPr>
        <p:txBody>
          <a:bodyPr rtlCol="0" anchor="ctr"/>
          <a:lstStyle/>
          <a:p>
            <a:pPr algn="ctr"/>
          </a:p>
        </p:txBody>
      </p:sp>
      <p:sp>
        <p:nvSpPr>
          <p:cNvPr id="25" name="TextBox 24"/>
          <p:cNvSpPr txBox="1"/>
          <p:nvPr/>
        </p:nvSpPr>
        <p:spPr>
          <a:xfrm>
            <a:off x="832104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Balanced</a:t>
            </a:r>
          </a:p>
        </p:txBody>
      </p:sp>
      <p:sp>
        <p:nvSpPr>
          <p:cNvPr id="26" name="TextBox 25"/>
          <p:cNvSpPr txBox="1"/>
          <p:nvPr/>
        </p:nvSpPr>
        <p:spPr>
          <a:xfrm>
            <a:off x="832104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ECOG (I6): ≤ 1 to ≤ 2</a:t>
            </a:r>
          </a:p>
          <a:p>
            <a:pPr algn="l">
              <a:lnSpc>
                <a:spcPct val="105000"/>
              </a:lnSpc>
              <a:spcAft>
                <a:spcPts val="0"/>
              </a:spcAft>
            </a:pPr>
            <a:r>
              <a:rPr sz="1400" b="0" i="0">
                <a:solidFill>
                  <a:srgbClr val="5C6A70"/>
                </a:solidFill>
                <a:latin typeface="Arial"/>
              </a:rPr>
              <a:t>Drop histology rule (I1)</a:t>
            </a:r>
          </a:p>
          <a:p>
            <a:pPr algn="l">
              <a:lnSpc>
                <a:spcPct val="105000"/>
              </a:lnSpc>
              <a:spcAft>
                <a:spcPts val="0"/>
              </a:spcAft>
            </a:pPr>
            <a:r>
              <a:rPr sz="1400" b="0" i="0">
                <a:solidFill>
                  <a:srgbClr val="5C6A70"/>
                </a:solidFill>
                <a:latin typeface="Arial"/>
              </a:rPr>
              <a:t>Drop CrCl (I14)</a:t>
            </a:r>
          </a:p>
        </p:txBody>
      </p:sp>
      <p:sp>
        <p:nvSpPr>
          <p:cNvPr id="27" name="TextBox 26"/>
          <p:cNvSpPr txBox="1"/>
          <p:nvPr/>
        </p:nvSpPr>
        <p:spPr>
          <a:xfrm>
            <a:off x="832104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28" name="TextBox 27"/>
          <p:cNvSpPr txBox="1"/>
          <p:nvPr/>
        </p:nvSpPr>
        <p:spPr>
          <a:xfrm>
            <a:off x="9784080"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+95%</a:t>
            </a:r>
          </a:p>
        </p:txBody>
      </p:sp>
      <p:sp>
        <p:nvSpPr>
          <p:cNvPr id="29" name="TextBox 28"/>
          <p:cNvSpPr txBox="1"/>
          <p:nvPr/>
        </p:nvSpPr>
        <p:spPr>
          <a:xfrm>
            <a:off x="9326880"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+90% to +128%</a:t>
            </a:r>
          </a:p>
        </p:txBody>
      </p:sp>
      <p:sp>
        <p:nvSpPr>
          <p:cNvPr id="30" name="TextBox 29"/>
          <p:cNvSpPr txBox="1"/>
          <p:nvPr/>
        </p:nvSpPr>
        <p:spPr>
          <a:xfrm>
            <a:off x="832104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31" name="TextBox 30"/>
          <p:cNvSpPr txBox="1"/>
          <p:nvPr/>
        </p:nvSpPr>
        <p:spPr>
          <a:xfrm>
            <a:off x="9784080"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+3.6 pts</a:t>
            </a:r>
          </a:p>
        </p:txBody>
      </p:sp>
      <p:sp>
        <p:nvSpPr>
          <p:cNvPr id="32" name="TextBox 31"/>
          <p:cNvSpPr txBox="1"/>
          <p:nvPr/>
        </p:nvSpPr>
        <p:spPr>
          <a:xfrm>
            <a:off x="9326880"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+3.6 pts to +5.0 pts</a:t>
            </a:r>
          </a:p>
        </p:txBody>
      </p:sp>
      <p:sp>
        <p:nvSpPr>
          <p:cNvPr id="33" name="TextBox 32"/>
          <p:cNvSpPr txBox="1"/>
          <p:nvPr/>
        </p:nvSpPr>
        <p:spPr>
          <a:xfrm>
            <a:off x="832104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34" name="TextBox 33"/>
          <p:cNvSpPr txBox="1"/>
          <p:nvPr/>
        </p:nvSpPr>
        <p:spPr>
          <a:xfrm>
            <a:off x="9784080"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+0.037</a:t>
            </a:r>
          </a:p>
        </p:txBody>
      </p:sp>
      <p:sp>
        <p:nvSpPr>
          <p:cNvPr id="35" name="TextBox 34"/>
          <p:cNvSpPr txBox="1"/>
          <p:nvPr/>
        </p:nvSpPr>
        <p:spPr>
          <a:xfrm>
            <a:off x="640080" y="5852160"/>
            <a:ext cx="10911535" cy="36576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Ranges: 5 cohort seeds. No dollar value yet (no amendment labels). Authors lock rules that define the trial's population</a:t>
            </a:r>
          </a:p>
        </p:txBody>
      </p:sp>
      <p:sp>
        <p:nvSpPr>
          <p:cNvPr id="36" name="TextBox 3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OPTIMIZER</a:t>
            </a:r>
          </a:p>
        </p:txBody>
      </p:sp>
      <p:sp>
        <p:nvSpPr>
          <p:cNvPr id="3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optimizer proposes three trade-offs with ranges; the author decides which, if any</a:t>
            </a:r>
          </a:p>
        </p:txBody>
      </p:sp>
      <p:sp>
        <p:nvSpPr>
          <p:cNvPr id="38" name="TextBox 3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7 / 12</a:t>
            </a:r>
          </a:p>
        </p:txBody>
      </p:sp>
      <p:sp>
        <p:nvSpPr>
          <p:cNvPr id="39" name="TextBox 3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docs/demo_results/NCT03232892_optimize.json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ClinicalTrials.gov</a:t>
            </a:r>
          </a:p>
          <a:p>
            <a:pPr algn="ctr"/>
            <a:r>
              <a:rPr sz="1200" b="0">
                <a:solidFill>
                  <a:srgbClr val="1B2A30"/>
                </a:solidFill>
                <a:latin typeface="Arial"/>
              </a:rPr>
              <a:t>+ version history</a:t>
            </a:r>
          </a:p>
        </p:txBody>
      </p:sp>
      <p:sp>
        <p:nvSpPr>
          <p:cNvPr id="3" name="Rounded Rectangle 2"/>
          <p:cNvSpPr/>
          <p:nvPr/>
        </p:nvSpPr>
        <p:spPr>
          <a:xfrm>
            <a:off x="288036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Ingest + labels</a:t>
            </a:r>
          </a:p>
        </p:txBody>
      </p:sp>
      <p:sp>
        <p:nvSpPr>
          <p:cNvPr id="4" name="Rounded Rectangle 3"/>
          <p:cNvSpPr/>
          <p:nvPr/>
        </p:nvSpPr>
        <p:spPr>
          <a:xfrm>
            <a:off x="512064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Criteria parser</a:t>
            </a:r>
          </a:p>
          <a:p>
            <a:pPr algn="ctr"/>
            <a:r>
              <a:rPr sz="1200" b="0">
                <a:solidFill>
                  <a:srgbClr val="1B2A30"/>
                </a:solidFill>
                <a:latin typeface="Arial"/>
              </a:rPr>
              <a:t>(Gemini)</a:t>
            </a:r>
          </a:p>
        </p:txBody>
      </p:sp>
      <p:sp>
        <p:nvSpPr>
          <p:cNvPr id="5" name="Rounded Rectangle 4"/>
          <p:cNvSpPr/>
          <p:nvPr/>
        </p:nvSpPr>
        <p:spPr>
          <a:xfrm>
            <a:off x="7360919"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Cohort + code</a:t>
            </a:r>
          </a:p>
          <a:p>
            <a:pPr algn="ctr"/>
            <a:r>
              <a:rPr sz="1200" b="0">
                <a:solidFill>
                  <a:srgbClr val="1B2A30"/>
                </a:solidFill>
                <a:latin typeface="Arial"/>
              </a:rPr>
              <a:t>screen</a:t>
            </a:r>
          </a:p>
        </p:txBody>
      </p:sp>
      <p:sp>
        <p:nvSpPr>
          <p:cNvPr id="6" name="Rounded Rectangle 5"/>
          <p:cNvSpPr/>
          <p:nvPr/>
        </p:nvSpPr>
        <p:spPr>
          <a:xfrm>
            <a:off x="960120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Persona agents</a:t>
            </a:r>
          </a:p>
          <a:p>
            <a:pPr algn="ctr"/>
            <a:r>
              <a:rPr sz="1200" b="0">
                <a:solidFill>
                  <a:srgbClr val="1B2A30"/>
                </a:solidFill>
                <a:latin typeface="Arial"/>
              </a:rPr>
              <a:t>(Gemini)</a:t>
            </a:r>
          </a:p>
        </p:txBody>
      </p:sp>
      <p:sp>
        <p:nvSpPr>
          <p:cNvPr id="7" name="Rounded Rectangle 6"/>
          <p:cNvSpPr/>
          <p:nvPr/>
        </p:nvSpPr>
        <p:spPr>
          <a:xfrm>
            <a:off x="2880360"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Tiger Data</a:t>
            </a:r>
          </a:p>
          <a:p>
            <a:pPr algn="ctr"/>
            <a:r>
              <a:rPr sz="1200" b="0">
                <a:solidFill>
                  <a:srgbClr val="FFFFFF"/>
                </a:solidFill>
                <a:latin typeface="Arial"/>
              </a:rPr>
              <a:t>Postgres + pgvector</a:t>
            </a:r>
          </a:p>
        </p:txBody>
      </p:sp>
      <p:sp>
        <p:nvSpPr>
          <p:cNvPr id="8" name="Rounded Rectangle 7"/>
          <p:cNvSpPr/>
          <p:nvPr/>
        </p:nvSpPr>
        <p:spPr>
          <a:xfrm>
            <a:off x="7360919"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LightGBM + SHAP</a:t>
            </a:r>
          </a:p>
          <a:p>
            <a:pPr algn="ctr"/>
            <a:r>
              <a:rPr sz="1200" b="0">
                <a:solidFill>
                  <a:srgbClr val="FFFFFF"/>
                </a:solidFill>
                <a:latin typeface="Arial"/>
              </a:rPr>
              <a:t>calibrated risk</a:t>
            </a:r>
          </a:p>
        </p:txBody>
      </p:sp>
      <p:sp>
        <p:nvSpPr>
          <p:cNvPr id="9" name="Rounded Rectangle 8"/>
          <p:cNvSpPr/>
          <p:nvPr/>
        </p:nvSpPr>
        <p:spPr>
          <a:xfrm>
            <a:off x="960120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Optimizer</a:t>
            </a:r>
          </a:p>
          <a:p>
            <a:pPr algn="ctr"/>
            <a:r>
              <a:rPr sz="1200" b="0">
                <a:solidFill>
                  <a:srgbClr val="1B2A30"/>
                </a:solidFill>
                <a:latin typeface="Arial"/>
              </a:rPr>
              <a:t>NSGA-II</a:t>
            </a:r>
          </a:p>
        </p:txBody>
      </p:sp>
      <p:sp>
        <p:nvSpPr>
          <p:cNvPr id="10" name="Rounded Rectangle 9"/>
          <p:cNvSpPr/>
          <p:nvPr/>
        </p:nvSpPr>
        <p:spPr>
          <a:xfrm>
            <a:off x="512064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Learning loop</a:t>
            </a:r>
          </a:p>
          <a:p>
            <a:pPr algn="ctr"/>
            <a:r>
              <a:rPr sz="1200" b="0">
                <a:solidFill>
                  <a:srgbClr val="1B2A30"/>
                </a:solidFill>
                <a:latin typeface="Arial"/>
              </a:rPr>
              <a:t>ledger + replay</a:t>
            </a:r>
          </a:p>
        </p:txBody>
      </p:sp>
      <p:sp>
        <p:nvSpPr>
          <p:cNvPr id="11" name="Rounded Rectangle 10"/>
          <p:cNvSpPr/>
          <p:nvPr/>
        </p:nvSpPr>
        <p:spPr>
          <a:xfrm>
            <a:off x="9601200" y="521208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FastAPI +</a:t>
            </a:r>
          </a:p>
          <a:p>
            <a:pPr algn="ctr"/>
            <a:r>
              <a:rPr sz="1200" b="0">
                <a:solidFill>
                  <a:srgbClr val="1B2A30"/>
                </a:solidFill>
                <a:latin typeface="Arial"/>
              </a:rPr>
              <a:t>Streamlit app</a:t>
            </a:r>
          </a:p>
        </p:txBody>
      </p:sp>
      <p:cxnSp>
        <p:nvCxnSpPr>
          <p:cNvPr id="12" name="Connector 11"/>
          <p:cNvCxnSpPr/>
          <p:nvPr/>
        </p:nvCxnSpPr>
        <p:spPr>
          <a:xfrm>
            <a:off x="255117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9145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173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272015" y="281178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1762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98179"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3846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272015" y="422910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3173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9145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38460" y="470001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349240"/>
            <a:ext cx="7680960" cy="822960"/>
          </a:xfrm>
          <a:prstGeom prst="rect">
            <a:avLst/>
          </a:prstGeom>
          <a:noFill/>
        </p:spPr>
        <p:txBody>
          <a:bodyPr wrap="square" lIns="0" rIns="0" tIns="0" bIns="0" anchor="t"/>
          <a:lstStyle/>
          <a:p>
            <a:pPr algn="l">
              <a:lnSpc>
                <a:spcPct val="115000"/>
              </a:lnSpc>
              <a:spcAft>
                <a:spcPts val="0"/>
              </a:spcAft>
            </a:pPr>
            <a:r>
              <a:rPr sz="1600" b="1" i="0">
                <a:solidFill>
                  <a:srgbClr val="1B2A30"/>
                </a:solidFill>
                <a:latin typeface="Arial"/>
              </a:rPr>
              <a:t>Built by AI agents: </a:t>
            </a:r>
            <a:r>
              <a:rPr sz="1600" b="0" i="0">
                <a:solidFill>
                  <a:srgbClr val="1B2A30"/>
                </a:solidFill>
                <a:latin typeface="Arial"/>
              </a:rPr>
              <a:t>four orchestrators across two model families ran 27 task prompts, coordinated by git tags and reviewing each other's work</a:t>
            </a:r>
          </a:p>
        </p:txBody>
      </p:sp>
      <p:sp>
        <p:nvSpPr>
          <p:cNvPr id="24" name="TextBox 2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ARCHITECTURE</a:t>
            </a:r>
          </a:p>
        </p:txBody>
      </p:sp>
      <p:sp>
        <p:nvSpPr>
          <p:cNvPr id="2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Small, tested modules around one Tiger Data store, built entirely by AI agents</a:t>
            </a:r>
          </a:p>
        </p:txBody>
      </p:sp>
      <p:sp>
        <p:nvSpPr>
          <p:cNvPr id="26" name="TextBox 2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8 / 12</a:t>
            </a:r>
          </a:p>
        </p:txBody>
      </p:sp>
      <p:sp>
        <p:nvSpPr>
          <p:cNvPr id="27" name="TextBox 2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orchestration/tasks/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uc_vs_baseline.png"/>
          <p:cNvPicPr>
            <a:picLocks noChangeAspect="1"/>
          </p:cNvPicPr>
          <p:nvPr/>
        </p:nvPicPr>
        <p:blipFill>
          <a:blip r:embed="rId2"/>
          <a:stretch>
            <a:fillRect/>
          </a:stretch>
        </p:blipFill>
        <p:spPr>
          <a:xfrm>
            <a:off x="640080" y="2190041"/>
            <a:ext cx="5943600" cy="2660797"/>
          </a:xfrm>
          <a:prstGeom prst="rect">
            <a:avLst/>
          </a:prstGeom>
        </p:spPr>
      </p:pic>
      <p:pic>
        <p:nvPicPr>
          <p:cNvPr id="3" name="Picture 2" descr="auc_gain.png"/>
          <p:cNvPicPr>
            <a:picLocks noChangeAspect="1"/>
          </p:cNvPicPr>
          <p:nvPr/>
        </p:nvPicPr>
        <p:blipFill>
          <a:blip r:embed="rId3"/>
          <a:stretch>
            <a:fillRect/>
          </a:stretch>
        </p:blipFill>
        <p:spPr>
          <a:xfrm>
            <a:off x="6812280" y="2200196"/>
            <a:ext cx="4739335" cy="2640486"/>
          </a:xfrm>
          <a:prstGeom prst="rect">
            <a:avLst/>
          </a:prstGeom>
        </p:spPr>
      </p:pic>
      <p:sp>
        <p:nvSpPr>
          <p:cNvPr id="4" name="TextBox 3"/>
          <p:cNvSpPr txBox="1"/>
          <p:nvPr/>
        </p:nvSpPr>
        <p:spPr>
          <a:xfrm>
            <a:off x="640080" y="5029200"/>
            <a:ext cx="10911535" cy="141732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Accrual failure: AUC 0.70 (95% CI 0.62–0.77) vs logistic baseline 0.66 (0.59–0.72)</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Paired AUC gain +0.04 (95% CI −0.04 to +0.12): the interval includes zero</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Brier 0.083 vs 0.086 for predicting the base rate; hit rate and simulation benefit not computable yet</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VALIDATION ON TRIALS THE MODEL NEVER SAW</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 359 unseen trials, accrual-failure AUC is 0.70: above chance, not yet shown to beat a simple baseline</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9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docs/metrics.json, docs/metrics_detail.json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replay_brier.png"/>
          <p:cNvPicPr>
            <a:picLocks noChangeAspect="1"/>
          </p:cNvPicPr>
          <p:nvPr/>
        </p:nvPicPr>
        <p:blipFill>
          <a:blip r:embed="rId2"/>
          <a:stretch>
            <a:fillRect/>
          </a:stretch>
        </p:blipFill>
        <p:spPr>
          <a:xfrm>
            <a:off x="640080" y="2263140"/>
            <a:ext cx="6949440" cy="3474720"/>
          </a:xfrm>
          <a:prstGeom prst="rect">
            <a:avLst/>
          </a:prstGeom>
        </p:spPr>
      </p:pic>
      <p:sp>
        <p:nvSpPr>
          <p:cNvPr id="3" name="TextBox 2"/>
          <p:cNvSpPr txBox="1"/>
          <p:nvPr/>
        </p:nvSpPr>
        <p:spPr>
          <a:xfrm>
            <a:off x="8000999" y="2377440"/>
            <a:ext cx="3550615" cy="3474720"/>
          </a:xfrm>
          <a:prstGeom prst="rect">
            <a:avLst/>
          </a:prstGeom>
          <a:noFill/>
        </p:spPr>
        <p:txBody>
          <a:bodyPr wrap="square" lIns="0" rIns="0" tIns="0" bIns="0" anchor="t"/>
          <a:lstStyle/>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Replay 2020-01 to 2023-12: score each month, then learn its outcomes</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Pooled Brier over 1,736 overlapping windows: retrained 0.078, frozen 0.077</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Every live prediction is logged in Tiger Data and scored when the trial ends</a:t>
            </a:r>
          </a:p>
        </p:txBody>
      </p:sp>
      <p:sp>
        <p:nvSpPr>
          <p:cNvPr id="4" name="TextBox 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LEARNING LOOP</a:t>
            </a:r>
          </a:p>
        </p:txBody>
      </p:sp>
      <p:sp>
        <p:nvSpPr>
          <p:cNvPr id="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In a 2020–2023 replay, monthly retraining did not beat the frozen model (Brier 0.078 vs 0.077)</a:t>
            </a:r>
          </a:p>
        </p:txBody>
      </p:sp>
      <p:sp>
        <p:nvSpPr>
          <p:cNvPr id="6" name="TextBox 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10 / 12</a:t>
            </a:r>
          </a:p>
        </p:txBody>
      </p:sp>
      <p:sp>
        <p:nvSpPr>
          <p:cNvPr id="7" name="TextBox 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docs/replay.json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86000"/>
            <a:ext cx="5318607" cy="137160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Not shown to beat simple baselines</a:t>
            </a:r>
          </a:p>
        </p:txBody>
      </p:sp>
      <p:sp>
        <p:nvSpPr>
          <p:cNvPr id="4" name="TextBox 3"/>
          <p:cNvSpPr txBox="1"/>
          <p:nvPr/>
        </p:nvSpPr>
        <p:spPr>
          <a:xfrm>
            <a:off x="960119"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Accrual AUC is above chance, but its paired gain over a logistic baseline includes zero</a:t>
            </a:r>
          </a:p>
        </p:txBody>
      </p:sp>
      <p:sp>
        <p:nvSpPr>
          <p:cNvPr id="5" name="Rounded Rectangle 4"/>
          <p:cNvSpPr/>
          <p:nvPr/>
        </p:nvSpPr>
        <p:spPr>
          <a:xfrm>
            <a:off x="6233007" y="2286000"/>
            <a:ext cx="5318607" cy="1371600"/>
          </a:xfrm>
          <a:prstGeom prst="roundRect">
            <a:avLst>
              <a:gd name="adj" fmla="val 8000"/>
            </a:avLst>
          </a:prstGeom>
          <a:solidFill>
            <a:srgbClr val="E9F2F2"/>
          </a:solidFill>
          <a:ln>
            <a:noFill/>
          </a:ln>
        </p:spPr>
        <p:txBody>
          <a:bodyPr rtlCol="0" anchor="ctr"/>
          <a:lstStyle/>
          <a:p>
            <a:pPr algn="ctr"/>
          </a:p>
        </p:txBody>
      </p:sp>
      <p:sp>
        <p:nvSpPr>
          <p:cNvPr id="6" name="TextBox 5"/>
          <p:cNvSpPr txBox="1"/>
          <p:nvPr/>
        </p:nvSpPr>
        <p:spPr>
          <a:xfrm>
            <a:off x="6553047"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Amendment labels are missing</a:t>
            </a:r>
          </a:p>
        </p:txBody>
      </p:sp>
      <p:sp>
        <p:nvSpPr>
          <p:cNvPr id="7" name="TextBox 6"/>
          <p:cNvSpPr txBox="1"/>
          <p:nvPr/>
        </p:nvSpPr>
        <p:spPr>
          <a:xfrm>
            <a:off x="6553047"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Version histories are not loaded yet, so hit rate and amendment risk are unmeasured</a:t>
            </a:r>
          </a:p>
        </p:txBody>
      </p:sp>
      <p:sp>
        <p:nvSpPr>
          <p:cNvPr id="8" name="Rounded Rectangle 7"/>
          <p:cNvSpPr/>
          <p:nvPr/>
        </p:nvSpPr>
        <p:spPr>
          <a:xfrm>
            <a:off x="640080" y="3886200"/>
            <a:ext cx="5318607" cy="1371600"/>
          </a:xfrm>
          <a:prstGeom prst="roundRect">
            <a:avLst>
              <a:gd name="adj" fmla="val 8000"/>
            </a:avLst>
          </a:prstGeom>
          <a:solidFill>
            <a:srgbClr val="E9F2F2"/>
          </a:solidFill>
          <a:ln>
            <a:noFill/>
          </a:ln>
        </p:spPr>
        <p:txBody>
          <a:bodyPr rtlCol="0" anchor="ctr"/>
          <a:lstStyle/>
          <a:p>
            <a:pPr algn="ctr"/>
          </a:p>
        </p:txBody>
      </p:sp>
      <p:sp>
        <p:nvSpPr>
          <p:cNvPr id="9" name="TextBox 8"/>
          <p:cNvSpPr txBox="1"/>
          <p:nvPr/>
        </p:nvSpPr>
        <p:spPr>
          <a:xfrm>
            <a:off x="960119"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Personas are synthetic</a:t>
            </a:r>
          </a:p>
        </p:txBody>
      </p:sp>
      <p:sp>
        <p:nvSpPr>
          <p:cNvPr id="10" name="TextBox 9"/>
          <p:cNvSpPr txBox="1"/>
          <p:nvPr/>
        </p:nvSpPr>
        <p:spPr>
          <a:xfrm>
            <a:off x="960119"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Clinical traits come from published distributions; too few simulated trials to test their benefit</a:t>
            </a:r>
          </a:p>
        </p:txBody>
      </p:sp>
      <p:sp>
        <p:nvSpPr>
          <p:cNvPr id="11" name="Rounded Rectangle 10"/>
          <p:cNvSpPr/>
          <p:nvPr/>
        </p:nvSpPr>
        <p:spPr>
          <a:xfrm>
            <a:off x="6233007" y="3886200"/>
            <a:ext cx="5318607" cy="1371600"/>
          </a:xfrm>
          <a:prstGeom prst="roundRect">
            <a:avLst>
              <a:gd name="adj" fmla="val 8000"/>
            </a:avLst>
          </a:prstGeom>
          <a:solidFill>
            <a:srgbClr val="E9F2F2"/>
          </a:solidFill>
          <a:ln>
            <a:noFill/>
          </a:ln>
        </p:spPr>
        <p:txBody>
          <a:bodyPr rtlCol="0" anchor="ctr"/>
          <a:lstStyle/>
          <a:p>
            <a:pPr algn="ctr"/>
          </a:p>
        </p:txBody>
      </p:sp>
      <p:sp>
        <p:nvSpPr>
          <p:cNvPr id="12" name="TextBox 11"/>
          <p:cNvSpPr txBox="1"/>
          <p:nvPr/>
        </p:nvSpPr>
        <p:spPr>
          <a:xfrm>
            <a:off x="6553047"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Scores are correlational</a:t>
            </a:r>
          </a:p>
        </p:txBody>
      </p:sp>
      <p:sp>
        <p:nvSpPr>
          <p:cNvPr id="13" name="TextBox 12"/>
          <p:cNvSpPr txBox="1"/>
          <p:nvPr/>
        </p:nvSpPr>
        <p:spPr>
          <a:xfrm>
            <a:off x="6553047"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They rank protocols against similar trials; they do not show that a rule caused a failure</a:t>
            </a:r>
          </a:p>
        </p:txBody>
      </p:sp>
      <p:sp>
        <p:nvSpPr>
          <p:cNvPr id="14" name="Rounded Rectangle 13"/>
          <p:cNvSpPr/>
          <p:nvPr/>
        </p:nvSpPr>
        <p:spPr>
          <a:xfrm>
            <a:off x="640080" y="5486400"/>
            <a:ext cx="10911535" cy="731520"/>
          </a:xfrm>
          <a:prstGeom prst="roundRect">
            <a:avLst>
              <a:gd name="adj" fmla="val 8000"/>
            </a:avLst>
          </a:prstGeom>
          <a:solidFill>
            <a:srgbClr val="0E5E63"/>
          </a:solidFill>
          <a:ln>
            <a:noFill/>
          </a:ln>
        </p:spPr>
        <p:txBody>
          <a:bodyPr rtlCol="0" anchor="ctr"/>
          <a:lstStyle/>
          <a:p>
            <a:pPr algn="ctr"/>
          </a:p>
        </p:txBody>
      </p:sp>
      <p:sp>
        <p:nvSpPr>
          <p:cNvPr id="15" name="TextBox 14"/>
          <p:cNvSpPr txBox="1"/>
          <p:nvPr/>
        </p:nvSpPr>
        <p:spPr>
          <a:xfrm>
            <a:off x="960119" y="5486400"/>
            <a:ext cx="10271455" cy="731520"/>
          </a:xfrm>
          <a:prstGeom prst="rect">
            <a:avLst/>
          </a:prstGeom>
          <a:noFill/>
        </p:spPr>
        <p:txBody>
          <a:bodyPr wrap="square" lIns="0" rIns="0" tIns="0" bIns="0" anchor="ctr"/>
          <a:lstStyle/>
          <a:p>
            <a:pPr algn="l">
              <a:lnSpc>
                <a:spcPct val="110000"/>
              </a:lnSpc>
              <a:spcAft>
                <a:spcPts val="0"/>
              </a:spcAft>
            </a:pPr>
            <a:r>
              <a:rPr sz="1700" b="1" i="0">
                <a:solidFill>
                  <a:srgbClr val="FFFFFF"/>
                </a:solidFill>
                <a:latin typeface="Arial"/>
              </a:rPr>
              <a:t>Clinova advises; the author decides. No real patient data. Every decision is logged.</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LIMITATIONS AND RESPONSIBLE USE</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We show what the evidence can and cannot support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11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docs/gate2_report.md, docs/metrics.json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Oval 1"/>
          <p:cNvSpPr/>
          <p:nvPr/>
        </p:nvSpPr>
        <p:spPr>
          <a:xfrm>
            <a:off x="640080" y="2286000"/>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1</a:t>
            </a:r>
          </a:p>
        </p:txBody>
      </p:sp>
      <p:sp>
        <p:nvSpPr>
          <p:cNvPr id="3" name="TextBox 2"/>
          <p:cNvSpPr txBox="1"/>
          <p:nvPr/>
        </p:nvSpPr>
        <p:spPr>
          <a:xfrm>
            <a:off x="1325880" y="2286000"/>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Lymphoma, ophthalmology and immunology</a:t>
            </a:r>
          </a:p>
        </p:txBody>
      </p:sp>
      <p:sp>
        <p:nvSpPr>
          <p:cNvPr id="4" name="Oval 3"/>
          <p:cNvSpPr/>
          <p:nvPr/>
        </p:nvSpPr>
        <p:spPr>
          <a:xfrm>
            <a:off x="640080" y="2907792"/>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2</a:t>
            </a:r>
          </a:p>
        </p:txBody>
      </p:sp>
      <p:sp>
        <p:nvSpPr>
          <p:cNvPr id="5" name="TextBox 4"/>
          <p:cNvSpPr txBox="1"/>
          <p:nvPr/>
        </p:nvSpPr>
        <p:spPr>
          <a:xfrm>
            <a:off x="1325880" y="2907792"/>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Site-level enrollment simulation</a:t>
            </a:r>
          </a:p>
        </p:txBody>
      </p:sp>
      <p:sp>
        <p:nvSpPr>
          <p:cNvPr id="6" name="Oval 5"/>
          <p:cNvSpPr/>
          <p:nvPr/>
        </p:nvSpPr>
        <p:spPr>
          <a:xfrm>
            <a:off x="640080" y="3529584"/>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3</a:t>
            </a:r>
          </a:p>
        </p:txBody>
      </p:sp>
      <p:sp>
        <p:nvSpPr>
          <p:cNvPr id="7" name="TextBox 6"/>
          <p:cNvSpPr txBox="1"/>
          <p:nvPr/>
        </p:nvSpPr>
        <p:spPr>
          <a:xfrm>
            <a:off x="1325880" y="3529584"/>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Persona model tuned on expert feedback</a:t>
            </a:r>
          </a:p>
        </p:txBody>
      </p:sp>
      <p:sp>
        <p:nvSpPr>
          <p:cNvPr id="8" name="Oval 7"/>
          <p:cNvSpPr/>
          <p:nvPr/>
        </p:nvSpPr>
        <p:spPr>
          <a:xfrm>
            <a:off x="640080" y="4151376"/>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4</a:t>
            </a:r>
          </a:p>
        </p:txBody>
      </p:sp>
      <p:sp>
        <p:nvSpPr>
          <p:cNvPr id="9" name="TextBox 8"/>
          <p:cNvSpPr txBox="1"/>
          <p:nvPr/>
        </p:nvSpPr>
        <p:spPr>
          <a:xfrm>
            <a:off x="1325880" y="4151376"/>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Structured protocol input (ICH M11)</a:t>
            </a:r>
          </a:p>
        </p:txBody>
      </p:sp>
      <p:sp>
        <p:nvSpPr>
          <p:cNvPr id="10" name="Oval 9"/>
          <p:cNvSpPr/>
          <p:nvPr/>
        </p:nvSpPr>
        <p:spPr>
          <a:xfrm>
            <a:off x="640080" y="4773168"/>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5</a:t>
            </a:r>
          </a:p>
        </p:txBody>
      </p:sp>
      <p:sp>
        <p:nvSpPr>
          <p:cNvPr id="11" name="TextBox 10"/>
          <p:cNvSpPr txBox="1"/>
          <p:nvPr/>
        </p:nvSpPr>
        <p:spPr>
          <a:xfrm>
            <a:off x="1325880" y="4773168"/>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Full GxP validation package</a:t>
            </a:r>
          </a:p>
        </p:txBody>
      </p:sp>
      <p:sp>
        <p:nvSpPr>
          <p:cNvPr id="12" name="Rounded Rectangle 11"/>
          <p:cNvSpPr/>
          <p:nvPr/>
        </p:nvSpPr>
        <p:spPr>
          <a:xfrm>
            <a:off x="7086600" y="2286000"/>
            <a:ext cx="4465015" cy="2651760"/>
          </a:xfrm>
          <a:prstGeom prst="roundRect">
            <a:avLst>
              <a:gd name="adj" fmla="val 6000"/>
            </a:avLst>
          </a:prstGeom>
          <a:solidFill>
            <a:srgbClr val="134E52"/>
          </a:solidFill>
          <a:ln>
            <a:noFill/>
          </a:ln>
        </p:spPr>
        <p:txBody>
          <a:bodyPr rtlCol="0" anchor="ctr"/>
          <a:lstStyle/>
          <a:p>
            <a:pPr algn="ctr"/>
          </a:p>
        </p:txBody>
      </p:sp>
      <p:sp>
        <p:nvSpPr>
          <p:cNvPr id="13" name="TextBox 12"/>
          <p:cNvSpPr txBox="1"/>
          <p:nvPr/>
        </p:nvSpPr>
        <p:spPr>
          <a:xfrm>
            <a:off x="7406640" y="2560320"/>
            <a:ext cx="3870655" cy="365760"/>
          </a:xfrm>
          <a:prstGeom prst="rect">
            <a:avLst/>
          </a:prstGeom>
          <a:noFill/>
        </p:spPr>
        <p:txBody>
          <a:bodyPr wrap="square" lIns="0" rIns="0" tIns="0" bIns="0" anchor="t"/>
          <a:lstStyle/>
          <a:p>
            <a:pPr algn="l">
              <a:lnSpc>
                <a:spcPct val="110000"/>
              </a:lnSpc>
              <a:spcAft>
                <a:spcPts val="0"/>
              </a:spcAft>
            </a:pPr>
            <a:r>
              <a:rPr sz="1700" b="0" i="0">
                <a:solidFill>
                  <a:srgbClr val="BFDCDD"/>
                </a:solidFill>
                <a:latin typeface="Arial"/>
              </a:rPr>
              <a:t>Run it yourself</a:t>
            </a:r>
          </a:p>
        </p:txBody>
      </p:sp>
      <p:sp>
        <p:nvSpPr>
          <p:cNvPr id="14" name="TextBox 13"/>
          <p:cNvSpPr txBox="1"/>
          <p:nvPr/>
        </p:nvSpPr>
        <p:spPr>
          <a:xfrm>
            <a:off x="7406640" y="3017520"/>
            <a:ext cx="3870655" cy="822960"/>
          </a:xfrm>
          <a:prstGeom prst="rect">
            <a:avLst/>
          </a:prstGeom>
          <a:noFill/>
        </p:spPr>
        <p:txBody>
          <a:bodyPr wrap="square" lIns="0" rIns="0" tIns="0" bIns="0" anchor="t"/>
          <a:lstStyle/>
          <a:p>
            <a:pPr algn="l">
              <a:lnSpc>
                <a:spcPct val="110000"/>
              </a:lnSpc>
              <a:spcAft>
                <a:spcPts val="0"/>
              </a:spcAft>
            </a:pPr>
            <a:r>
              <a:rPr sz="2100" b="1" i="0">
                <a:solidFill>
                  <a:srgbClr val="FFFFFF"/>
                </a:solidFill>
                <a:latin typeface="Arial"/>
              </a:rPr>
              <a:t>github.com/RaghulKS/Clinova</a:t>
            </a:r>
          </a:p>
        </p:txBody>
      </p:sp>
      <p:sp>
        <p:nvSpPr>
          <p:cNvPr id="15" name="TextBox 14"/>
          <p:cNvSpPr txBox="1"/>
          <p:nvPr/>
        </p:nvSpPr>
        <p:spPr>
          <a:xfrm>
            <a:off x="7406640" y="3749039"/>
            <a:ext cx="3870655" cy="914400"/>
          </a:xfrm>
          <a:prstGeom prst="rect">
            <a:avLst/>
          </a:prstGeom>
          <a:noFill/>
        </p:spPr>
        <p:txBody>
          <a:bodyPr wrap="square" lIns="0" rIns="0" tIns="0" bIns="0" anchor="t"/>
          <a:lstStyle/>
          <a:p>
            <a:pPr algn="l">
              <a:lnSpc>
                <a:spcPct val="115000"/>
              </a:lnSpc>
              <a:spcAft>
                <a:spcPts val="0"/>
              </a:spcAft>
            </a:pPr>
            <a:r>
              <a:rPr sz="1500" b="0" i="0">
                <a:solidFill>
                  <a:srgbClr val="BFDCDD"/>
                </a:solidFill>
                <a:latin typeface="Arial"/>
              </a:rPr>
              <a:t>MIT license. docker compose up, then open the app; demo mode needs no API keys.</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7FC4C7"/>
                </a:solidFill>
                <a:latin typeface="Arial"/>
              </a:rPr>
              <a:t>ROADMAP</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FFFFFF"/>
                </a:solidFill>
                <a:latin typeface="Arial"/>
              </a:rPr>
              <a:t>Next: more indications, site-level simulation and structured protocol input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12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7FC4C7"/>
                </a:solidFill>
                <a:latin typeface="Arial"/>
              </a:rPr>
              <a:t>Sources: 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Clinova</dc:title>
  <dc:subject/>
  <dc:creator>Clinova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