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Clinova is a flight simulator for non-small cell lung cancer trial protocols. A study designer pastes a draft protocol or an NCT ID, and Clinova shows where enrollment will stall and where patients will drop out, before the protocol is final. The difference from other tools is proof: every prediction is graded against how real ClinicalTrials.gov trials turned out, on trials the model never saw. Clinova advises the author; it never approves a protocol. Pitch wording: docs/ARCHITECTURE.md section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Delays are designed in. 57% of protocols get a substantial amendment and 45% of those were avoidable (Starter Sheet 01). Each costs a median $141K in Phase II and $535K in Phase III plus about 3 months (Starter Sheet 01). Of 8,687 US cancer trials, 22.74% were terminated, and accrual was the top specific reason at 34.5% (PMC10028157). All figures: docs/ARCHITECTURE.md section 2. The FDA-commissioned cost study names looser enrollment rules and simpler protocols.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changed. First, ClinicalTrials.gov keeps every registered version of a protocol, so when a sponsor widens a rule, that edit is public. Starter Sheet 01 assumes amendment data is private; we use version history as a public proxy instead, so every claim can be checked. Second, an LLM can turn free-text eligibility into rules code can check. Third, the Tufts CSDD 2024 benchmark finds full AI adoption lowest in trial design and planning. Source: docs/ARCHITECTURE.md sections 2 and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Read: Gemini turns eligibility rules and the visit schedule into code-checkable logic. Simulate: a virtual NSCLC cohort is screened in code, then persona agents decide whether to enroll and when they would drop out. Calibrate: LightGBM trained on real ClinicalTrials.gov trials gives calibrated risk, explained by SHAP. Optimize: test edits such as relaxing a criterion or cutting a visit, with ranges and a dollar value. Learn: every prediction is logged and scored when the trial ends. Source: docs/ARCHITECTURE.md section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trial, NCT03232892, from the test split, terminated on 2019-09-11 with the stop reason "Low Accrual" (docs/demo_trial.md). We load only its first registered protocol. 21.4% of 1,000 virtual patients pass every criterion, and ECOG &lt;= 1 removes 35% on its own (funnel: docs/gate1_e2e.json (seed 1)). Later the sponsor removed prior platinum, cardiac condition. Did our top 3 flags include the widened rule? [TBD: demo flags (docs/deck/data/demo.json)]. Flags: docs/deck/data/demo.json. Version histories confirm the change only from first versus current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results screen of the running app. Left, the funnel: virtual patients screened, excluded by each criterion, enrolled and completing, with the biggest exclusion highlighted. Middle, risk: calibrated probabilities of accrual failure, enrollment shortfall and amendment, each with a range, a confidence badge and the top drivers in plain words. Right, three fixes. Everything else sits behind tabs: validation, replay, community pulse and the audit log. Screenshot: docs/screens/03-results.png.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NCT03232892 the optimizer, Optuna NSGA-II over at most three edits, returns three representative fixes. [TBD: fix numbers]. Ranges span five cohort seeds. The dollar figure is the expected value of avoided amendments: the drop in amendment probability times the phase's median amendment cost. Accepting a fix logs the decision and re-runs the screen in seconds. Numbers: docs/deck/data/demo.json.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ClinicalTrials.gov records and their version history are ingested and labelled into Tiger Data, which is Postgres with TimescaleDB and pgvector. Gemini parses criteria; a code screen and persona agents simulate the cohort; LightGBM with SHAP scores risk; the optimizer re-scores every candidate edit in milliseconds; the learning loop logs and grades every prediction. Judges run it with one Docker Compose command and cached AI outputs. Four AI orchestrators across two model families ran 27 task prompts (count of orchestration/tasks/*.md).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split: train on trials that started before 2018 ([TBD: metrics.json n_train] labelled), test on 2018 or later ([TBD: metrics.json n_test]). Accrual-failure AUC is [TBD: metrics.json accrual_fail AUC], 95% CI , against [TBD: metrics.json accrual_fail AUC baseline] for a ten-feature logistic baseline; Brier [TBD: Brier] vs [TBD: baseline Brier]. Shortfall AUC is [TBD: metrics.json shortfall AUC] vs [TBD: metrics.json shortfall AUC baseline]. Hit rate: [TBD: metrics.json hit_rate] (random [TBD: metrics.json hit_rate random], largest exclusion [TBD: metrics.json hit_rate marginal]). Simulation ablation: [TBD: metrics.json ablation diff]. Model [TBD: model_version]; every number is from docs/metrics.json.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replay freezes a model on [TBD: freeze date], then steps month by month from [TBD: first month] to [TBD: last month]: it scores trials whose outcome arrives within ? months, then adds that month's outcomes and retrains. The frozen arm never retrains. Pooled over [TBD: replay.json windows] scored windows the retrained Brier is [TBD: replay.json retrained Brier] against [TBD: replay.json frozen Brier] frozen. Windows overlap, so this is descriptive, not a significance test. Source: docs/replay.json.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limits. Registry edits are a public proxy for amendments, not the same thing. Stop reasons are free text, and some terminations are business decisions. Personas are general-population records given clinical traits from published distributions, labelled as assumptions. Predictions are correlational. On responsible use: no real patient data is used; Clinova advises the protocol author, logs every accept and reject, and never approves a protocol. Source: docs/ARCHITECTURE.md section 10 and the caveats in docs/metrics.json notes.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expand beyond NSCLC to lymphoma, ophthalmology and immunology; simulate enrollment site by site; tune the persona model on expert feedback; accept structured protocols in ICH M11 format; and build a full GxP validation package. Everything is open source under MIT at https://github.com/RaghulKS/Clinova. One docker compose command starts the database, API and app, and demo mode runs on cached AI outputs with no keys. Roadmap: docs/ARCHITECTURE.md section 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40"/>
        </a:solidFill>
        <a:effectLst/>
      </p:bgPr>
    </p:bg>
    <p:spTree>
      <p:nvGrpSpPr>
        <p:cNvPr id="1" name=""/>
        <p:cNvGrpSpPr/>
        <p:nvPr/>
      </p:nvGrpSpPr>
      <p:grpSpPr/>
      <p:sp>
        <p:nvSpPr>
          <p:cNvPr id="2" name="TextBox 1"/>
          <p:cNvSpPr txBox="1"/>
          <p:nvPr/>
        </p:nvSpPr>
        <p:spPr>
          <a:xfrm>
            <a:off x="640080" y="1600200"/>
            <a:ext cx="6035040" cy="914400"/>
          </a:xfrm>
          <a:prstGeom prst="rect">
            <a:avLst/>
          </a:prstGeom>
          <a:noFill/>
        </p:spPr>
        <p:txBody>
          <a:bodyPr wrap="square" lIns="0" rIns="0" tIns="0" bIns="0" anchor="t"/>
          <a:lstStyle/>
          <a:p>
            <a:pPr algn="l">
              <a:lnSpc>
                <a:spcPct val="110000"/>
              </a:lnSpc>
              <a:spcAft>
                <a:spcPts val="0"/>
              </a:spcAft>
            </a:pPr>
            <a:r>
              <a:rPr sz="6600" b="1" i="0">
                <a:solidFill>
                  <a:srgbClr val="FFFFFF"/>
                </a:solidFill>
                <a:latin typeface="Arial"/>
              </a:rPr>
              <a:t>Clinova</a:t>
            </a:r>
          </a:p>
        </p:txBody>
      </p:sp>
      <p:sp>
        <p:nvSpPr>
          <p:cNvPr id="3" name="TextBox 2"/>
          <p:cNvSpPr txBox="1"/>
          <p:nvPr/>
        </p:nvSpPr>
        <p:spPr>
          <a:xfrm>
            <a:off x="640080" y="2697480"/>
            <a:ext cx="5852160" cy="1188720"/>
          </a:xfrm>
          <a:prstGeom prst="rect">
            <a:avLst/>
          </a:prstGeom>
          <a:noFill/>
        </p:spPr>
        <p:txBody>
          <a:bodyPr wrap="square" lIns="0" rIns="0" tIns="0" bIns="0" anchor="t"/>
          <a:lstStyle/>
          <a:p>
            <a:pPr algn="l">
              <a:lnSpc>
                <a:spcPct val="115000"/>
              </a:lnSpc>
              <a:spcAft>
                <a:spcPts val="0"/>
              </a:spcAft>
            </a:pPr>
            <a:r>
              <a:rPr sz="2400" b="0" i="0">
                <a:solidFill>
                  <a:srgbClr val="FFFFFF"/>
                </a:solidFill>
                <a:latin typeface="Arial"/>
              </a:rPr>
              <a:t>Test-fly your NSCLC trial on thousands of virtual patients before enrolling a real one</a:t>
            </a:r>
          </a:p>
        </p:txBody>
      </p:sp>
      <p:sp>
        <p:nvSpPr>
          <p:cNvPr id="4" name="TextBox 3"/>
          <p:cNvSpPr txBox="1"/>
          <p:nvPr/>
        </p:nvSpPr>
        <p:spPr>
          <a:xfrm>
            <a:off x="640080" y="4206240"/>
            <a:ext cx="5760720" cy="914400"/>
          </a:xfrm>
          <a:prstGeom prst="rect">
            <a:avLst/>
          </a:prstGeom>
          <a:noFill/>
        </p:spPr>
        <p:txBody>
          <a:bodyPr wrap="square" lIns="0" rIns="0" tIns="0" bIns="0" anchor="t"/>
          <a:lstStyle/>
          <a:p>
            <a:pPr algn="l">
              <a:lnSpc>
                <a:spcPct val="115000"/>
              </a:lnSpc>
              <a:spcAft>
                <a:spcPts val="0"/>
              </a:spcAft>
            </a:pPr>
            <a:r>
              <a:rPr sz="1800" b="0" i="0">
                <a:solidFill>
                  <a:srgbClr val="BFDCDD"/>
                </a:solidFill>
                <a:latin typeface="Arial"/>
              </a:rPr>
              <a:t>Every prediction is graded against how real ClinicalTrials.gov trials turned out</a:t>
            </a:r>
          </a:p>
        </p:txBody>
      </p:sp>
      <p:sp>
        <p:nvSpPr>
          <p:cNvPr id="5" name="TextBox 4"/>
          <p:cNvSpPr txBox="1"/>
          <p:nvPr/>
        </p:nvSpPr>
        <p:spPr>
          <a:xfrm>
            <a:off x="640080" y="5806440"/>
            <a:ext cx="6400800" cy="365760"/>
          </a:xfrm>
          <a:prstGeom prst="rect">
            <a:avLst/>
          </a:prstGeom>
          <a:noFill/>
        </p:spPr>
        <p:txBody>
          <a:bodyPr wrap="square" lIns="0" rIns="0" tIns="0" bIns="0" anchor="t"/>
          <a:lstStyle/>
          <a:p>
            <a:pPr algn="l">
              <a:lnSpc>
                <a:spcPct val="110000"/>
              </a:lnSpc>
              <a:spcAft>
                <a:spcPts val="0"/>
              </a:spcAft>
            </a:pPr>
            <a:r>
              <a:rPr sz="1500" b="0" i="0">
                <a:solidFill>
                  <a:srgbClr val="BFDCDD"/>
                </a:solidFill>
                <a:latin typeface="Arial"/>
              </a:rPr>
              <a:t>https://github.com/RaghulKS/Clinova</a:t>
            </a:r>
          </a:p>
        </p:txBody>
      </p:sp>
      <p:sp>
        <p:nvSpPr>
          <p:cNvPr id="6" name="Rounded Rectangle 5"/>
          <p:cNvSpPr/>
          <p:nvPr/>
        </p:nvSpPr>
        <p:spPr>
          <a:xfrm>
            <a:off x="6766560" y="1554480"/>
            <a:ext cx="4846320" cy="3657600"/>
          </a:xfrm>
          <a:prstGeom prst="roundRect">
            <a:avLst>
              <a:gd name="adj" fmla="val 3000"/>
            </a:avLst>
          </a:prstGeom>
          <a:solidFill>
            <a:srgbClr val="FFFFFF"/>
          </a:solidFill>
          <a:ln>
            <a:noFill/>
          </a:ln>
        </p:spPr>
        <p:txBody>
          <a:bodyPr rtlCol="0" anchor="ctr"/>
          <a:lstStyle/>
          <a:p>
            <a:pPr algn="ctr"/>
          </a:p>
        </p:txBody>
      </p:sp>
      <p:pic>
        <p:nvPicPr>
          <p:cNvPr id="7" name="Picture 6" descr="screen_title.png"/>
          <p:cNvPicPr>
            <a:picLocks noChangeAspect="1"/>
          </p:cNvPicPr>
          <p:nvPr/>
        </p:nvPicPr>
        <p:blipFill>
          <a:blip r:embed="rId2"/>
          <a:stretch>
            <a:fillRect/>
          </a:stretch>
        </p:blipFill>
        <p:spPr>
          <a:xfrm>
            <a:off x="6812280" y="1600200"/>
            <a:ext cx="4754880" cy="3566160"/>
          </a:xfrm>
          <a:prstGeom prst="rect">
            <a:avLst/>
          </a:prstGeom>
        </p:spPr>
      </p:pic>
      <p:sp>
        <p:nvSpPr>
          <p:cNvPr id="8" name="TextBox 7"/>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7FC4C7"/>
                </a:solidFill>
                <a:latin typeface="Arial"/>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2331720"/>
            <a:ext cx="3429000" cy="3017520"/>
          </a:xfrm>
          <a:prstGeom prst="roundRect">
            <a:avLst>
              <a:gd name="adj" fmla="val 8000"/>
            </a:avLst>
          </a:prstGeom>
          <a:solidFill>
            <a:srgbClr val="E9F2F2"/>
          </a:solidFill>
          <a:ln>
            <a:noFill/>
          </a:ln>
        </p:spPr>
        <p:txBody>
          <a:bodyPr rtlCol="0" anchor="ctr"/>
          <a:lstStyle/>
          <a:p>
            <a:pPr algn="ctr"/>
          </a:p>
        </p:txBody>
      </p:sp>
      <p:sp>
        <p:nvSpPr>
          <p:cNvPr id="3" name="TextBox 2"/>
          <p:cNvSpPr txBox="1"/>
          <p:nvPr/>
        </p:nvSpPr>
        <p:spPr>
          <a:xfrm>
            <a:off x="960119" y="2651760"/>
            <a:ext cx="2788920" cy="1005840"/>
          </a:xfrm>
          <a:prstGeom prst="rect">
            <a:avLst/>
          </a:prstGeom>
          <a:noFill/>
        </p:spPr>
        <p:txBody>
          <a:bodyPr wrap="square" lIns="0" rIns="0" tIns="0" bIns="0" anchor="t"/>
          <a:lstStyle/>
          <a:p>
            <a:pPr algn="l">
              <a:lnSpc>
                <a:spcPct val="110000"/>
              </a:lnSpc>
              <a:spcAft>
                <a:spcPts val="0"/>
              </a:spcAft>
            </a:pPr>
            <a:r>
              <a:rPr sz="5800" b="1" i="0">
                <a:solidFill>
                  <a:srgbClr val="0E5E63"/>
                </a:solidFill>
                <a:latin typeface="Arial"/>
              </a:rPr>
              <a:t>57%</a:t>
            </a:r>
          </a:p>
        </p:txBody>
      </p:sp>
      <p:sp>
        <p:nvSpPr>
          <p:cNvPr id="4" name="TextBox 3"/>
          <p:cNvSpPr txBox="1"/>
          <p:nvPr/>
        </p:nvSpPr>
        <p:spPr>
          <a:xfrm>
            <a:off x="960119" y="3703320"/>
            <a:ext cx="2788920" cy="822960"/>
          </a:xfrm>
          <a:prstGeom prst="rect">
            <a:avLst/>
          </a:prstGeom>
          <a:noFill/>
        </p:spPr>
        <p:txBody>
          <a:bodyPr wrap="square" lIns="0" rIns="0" tIns="0" bIns="0" anchor="t"/>
          <a:lstStyle/>
          <a:p>
            <a:pPr algn="l">
              <a:lnSpc>
                <a:spcPct val="110000"/>
              </a:lnSpc>
              <a:spcAft>
                <a:spcPts val="0"/>
              </a:spcAft>
            </a:pPr>
            <a:r>
              <a:rPr sz="1800" b="0" i="0">
                <a:solidFill>
                  <a:srgbClr val="1B2A30"/>
                </a:solidFill>
                <a:latin typeface="Arial"/>
              </a:rPr>
              <a:t>of protocols need a substantial amendment</a:t>
            </a:r>
          </a:p>
        </p:txBody>
      </p:sp>
      <p:sp>
        <p:nvSpPr>
          <p:cNvPr id="5" name="TextBox 4"/>
          <p:cNvSpPr txBox="1"/>
          <p:nvPr/>
        </p:nvSpPr>
        <p:spPr>
          <a:xfrm>
            <a:off x="960119" y="4663440"/>
            <a:ext cx="2788920" cy="548640"/>
          </a:xfrm>
          <a:prstGeom prst="rect">
            <a:avLst/>
          </a:prstGeom>
          <a:noFill/>
        </p:spPr>
        <p:txBody>
          <a:bodyPr wrap="square" lIns="0" rIns="0" tIns="0" bIns="0" anchor="t"/>
          <a:lstStyle/>
          <a:p>
            <a:pPr algn="l">
              <a:lnSpc>
                <a:spcPct val="110000"/>
              </a:lnSpc>
              <a:spcAft>
                <a:spcPts val="0"/>
              </a:spcAft>
            </a:pPr>
            <a:r>
              <a:rPr sz="1400" b="0" i="0">
                <a:solidFill>
                  <a:srgbClr val="5C6A70"/>
                </a:solidFill>
                <a:latin typeface="Arial"/>
              </a:rPr>
              <a:t>45% of those are avoidable</a:t>
            </a:r>
          </a:p>
        </p:txBody>
      </p:sp>
      <p:sp>
        <p:nvSpPr>
          <p:cNvPr id="6" name="Rounded Rectangle 5"/>
          <p:cNvSpPr/>
          <p:nvPr/>
        </p:nvSpPr>
        <p:spPr>
          <a:xfrm>
            <a:off x="4343400" y="2331720"/>
            <a:ext cx="3429000" cy="3017520"/>
          </a:xfrm>
          <a:prstGeom prst="roundRect">
            <a:avLst>
              <a:gd name="adj" fmla="val 8000"/>
            </a:avLst>
          </a:prstGeom>
          <a:solidFill>
            <a:srgbClr val="E9F2F2"/>
          </a:solidFill>
          <a:ln>
            <a:noFill/>
          </a:ln>
        </p:spPr>
        <p:txBody>
          <a:bodyPr rtlCol="0" anchor="ctr"/>
          <a:lstStyle/>
          <a:p>
            <a:pPr algn="ctr"/>
          </a:p>
        </p:txBody>
      </p:sp>
      <p:sp>
        <p:nvSpPr>
          <p:cNvPr id="7" name="TextBox 6"/>
          <p:cNvSpPr txBox="1"/>
          <p:nvPr/>
        </p:nvSpPr>
        <p:spPr>
          <a:xfrm>
            <a:off x="4663440" y="2651760"/>
            <a:ext cx="2788920" cy="1005840"/>
          </a:xfrm>
          <a:prstGeom prst="rect">
            <a:avLst/>
          </a:prstGeom>
          <a:noFill/>
        </p:spPr>
        <p:txBody>
          <a:bodyPr wrap="square" lIns="0" rIns="0" tIns="0" bIns="0" anchor="t"/>
          <a:lstStyle/>
          <a:p>
            <a:pPr algn="l">
              <a:lnSpc>
                <a:spcPct val="110000"/>
              </a:lnSpc>
              <a:spcAft>
                <a:spcPts val="0"/>
              </a:spcAft>
            </a:pPr>
            <a:r>
              <a:rPr sz="5800" b="1" i="0">
                <a:solidFill>
                  <a:srgbClr val="0E5E63"/>
                </a:solidFill>
                <a:latin typeface="Arial"/>
              </a:rPr>
              <a:t>$535K</a:t>
            </a:r>
          </a:p>
        </p:txBody>
      </p:sp>
      <p:sp>
        <p:nvSpPr>
          <p:cNvPr id="8" name="TextBox 7"/>
          <p:cNvSpPr txBox="1"/>
          <p:nvPr/>
        </p:nvSpPr>
        <p:spPr>
          <a:xfrm>
            <a:off x="4663440" y="3703320"/>
            <a:ext cx="2788920" cy="822960"/>
          </a:xfrm>
          <a:prstGeom prst="rect">
            <a:avLst/>
          </a:prstGeom>
          <a:noFill/>
        </p:spPr>
        <p:txBody>
          <a:bodyPr wrap="square" lIns="0" rIns="0" tIns="0" bIns="0" anchor="t"/>
          <a:lstStyle/>
          <a:p>
            <a:pPr algn="l">
              <a:lnSpc>
                <a:spcPct val="110000"/>
              </a:lnSpc>
              <a:spcAft>
                <a:spcPts val="0"/>
              </a:spcAft>
            </a:pPr>
            <a:r>
              <a:rPr sz="1800" b="0" i="0">
                <a:solidFill>
                  <a:srgbClr val="1B2A30"/>
                </a:solidFill>
                <a:latin typeface="Arial"/>
              </a:rPr>
              <a:t>median cost of one Phase III amendment</a:t>
            </a:r>
          </a:p>
        </p:txBody>
      </p:sp>
      <p:sp>
        <p:nvSpPr>
          <p:cNvPr id="9" name="TextBox 8"/>
          <p:cNvSpPr txBox="1"/>
          <p:nvPr/>
        </p:nvSpPr>
        <p:spPr>
          <a:xfrm>
            <a:off x="4663440" y="4663440"/>
            <a:ext cx="2788920" cy="548640"/>
          </a:xfrm>
          <a:prstGeom prst="rect">
            <a:avLst/>
          </a:prstGeom>
          <a:noFill/>
        </p:spPr>
        <p:txBody>
          <a:bodyPr wrap="square" lIns="0" rIns="0" tIns="0" bIns="0" anchor="t"/>
          <a:lstStyle/>
          <a:p>
            <a:pPr algn="l">
              <a:lnSpc>
                <a:spcPct val="110000"/>
              </a:lnSpc>
              <a:spcAft>
                <a:spcPts val="0"/>
              </a:spcAft>
            </a:pPr>
            <a:r>
              <a:rPr sz="1400" b="0" i="0">
                <a:solidFill>
                  <a:srgbClr val="5C6A70"/>
                </a:solidFill>
                <a:latin typeface="Arial"/>
              </a:rPr>
              <a:t>$141K in Phase II, plus about 3 months</a:t>
            </a:r>
          </a:p>
        </p:txBody>
      </p:sp>
      <p:sp>
        <p:nvSpPr>
          <p:cNvPr id="10" name="Rounded Rectangle 9"/>
          <p:cNvSpPr/>
          <p:nvPr/>
        </p:nvSpPr>
        <p:spPr>
          <a:xfrm>
            <a:off x="8046719" y="2331720"/>
            <a:ext cx="3429000" cy="3017520"/>
          </a:xfrm>
          <a:prstGeom prst="roundRect">
            <a:avLst>
              <a:gd name="adj" fmla="val 8000"/>
            </a:avLst>
          </a:prstGeom>
          <a:solidFill>
            <a:srgbClr val="E9F2F2"/>
          </a:solidFill>
          <a:ln>
            <a:noFill/>
          </a:ln>
        </p:spPr>
        <p:txBody>
          <a:bodyPr rtlCol="0" anchor="ctr"/>
          <a:lstStyle/>
          <a:p>
            <a:pPr algn="ctr"/>
          </a:p>
        </p:txBody>
      </p:sp>
      <p:sp>
        <p:nvSpPr>
          <p:cNvPr id="11" name="TextBox 10"/>
          <p:cNvSpPr txBox="1"/>
          <p:nvPr/>
        </p:nvSpPr>
        <p:spPr>
          <a:xfrm>
            <a:off x="8366759" y="2651760"/>
            <a:ext cx="2788920" cy="1005840"/>
          </a:xfrm>
          <a:prstGeom prst="rect">
            <a:avLst/>
          </a:prstGeom>
          <a:noFill/>
        </p:spPr>
        <p:txBody>
          <a:bodyPr wrap="square" lIns="0" rIns="0" tIns="0" bIns="0" anchor="t"/>
          <a:lstStyle/>
          <a:p>
            <a:pPr algn="l">
              <a:lnSpc>
                <a:spcPct val="110000"/>
              </a:lnSpc>
              <a:spcAft>
                <a:spcPts val="0"/>
              </a:spcAft>
            </a:pPr>
            <a:r>
              <a:rPr sz="5800" b="1" i="0">
                <a:solidFill>
                  <a:srgbClr val="0E5E63"/>
                </a:solidFill>
                <a:latin typeface="Arial"/>
              </a:rPr>
              <a:t>34.5%</a:t>
            </a:r>
          </a:p>
        </p:txBody>
      </p:sp>
      <p:sp>
        <p:nvSpPr>
          <p:cNvPr id="12" name="TextBox 11"/>
          <p:cNvSpPr txBox="1"/>
          <p:nvPr/>
        </p:nvSpPr>
        <p:spPr>
          <a:xfrm>
            <a:off x="8366759" y="3703320"/>
            <a:ext cx="2788920" cy="822960"/>
          </a:xfrm>
          <a:prstGeom prst="rect">
            <a:avLst/>
          </a:prstGeom>
          <a:noFill/>
        </p:spPr>
        <p:txBody>
          <a:bodyPr wrap="square" lIns="0" rIns="0" tIns="0" bIns="0" anchor="t"/>
          <a:lstStyle/>
          <a:p>
            <a:pPr algn="l">
              <a:lnSpc>
                <a:spcPct val="110000"/>
              </a:lnSpc>
              <a:spcAft>
                <a:spcPts val="0"/>
              </a:spcAft>
            </a:pPr>
            <a:r>
              <a:rPr sz="1800" b="0" i="0">
                <a:solidFill>
                  <a:srgbClr val="1B2A30"/>
                </a:solidFill>
                <a:latin typeface="Arial"/>
              </a:rPr>
              <a:t>of cancer-trial terminations: low accrual, the top reason</a:t>
            </a:r>
          </a:p>
        </p:txBody>
      </p:sp>
      <p:sp>
        <p:nvSpPr>
          <p:cNvPr id="13" name="TextBox 12"/>
          <p:cNvSpPr txBox="1"/>
          <p:nvPr/>
        </p:nvSpPr>
        <p:spPr>
          <a:xfrm>
            <a:off x="8366759" y="4663440"/>
            <a:ext cx="2788920" cy="548640"/>
          </a:xfrm>
          <a:prstGeom prst="rect">
            <a:avLst/>
          </a:prstGeom>
          <a:noFill/>
        </p:spPr>
        <p:txBody>
          <a:bodyPr wrap="square" lIns="0" rIns="0" tIns="0" bIns="0" anchor="t"/>
          <a:lstStyle/>
          <a:p>
            <a:pPr algn="l">
              <a:lnSpc>
                <a:spcPct val="110000"/>
              </a:lnSpc>
              <a:spcAft>
                <a:spcPts val="0"/>
              </a:spcAft>
            </a:pPr>
            <a:r>
              <a:rPr sz="1400" b="0" i="0">
                <a:solidFill>
                  <a:srgbClr val="5C6A70"/>
                </a:solidFill>
                <a:latin typeface="Arial"/>
              </a:rPr>
              <a:t>22.74% of 8,687 US cancer trials terminated</a:t>
            </a:r>
          </a:p>
        </p:txBody>
      </p:sp>
      <p:sp>
        <p:nvSpPr>
          <p:cNvPr id="14" name="TextBox 13"/>
          <p:cNvSpPr txBox="1"/>
          <p:nvPr/>
        </p:nvSpPr>
        <p:spPr>
          <a:xfrm>
            <a:off x="640080" y="5623560"/>
            <a:ext cx="10911535" cy="365760"/>
          </a:xfrm>
          <a:prstGeom prst="rect">
            <a:avLst/>
          </a:prstGeom>
          <a:noFill/>
        </p:spPr>
        <p:txBody>
          <a:bodyPr wrap="square" lIns="0" rIns="0" tIns="0" bIns="0" anchor="t"/>
          <a:lstStyle/>
          <a:p>
            <a:pPr algn="l">
              <a:lnSpc>
                <a:spcPct val="110000"/>
              </a:lnSpc>
              <a:spcAft>
                <a:spcPts val="0"/>
              </a:spcAft>
            </a:pPr>
            <a:r>
              <a:rPr sz="1700" b="0" i="0">
                <a:solidFill>
                  <a:srgbClr val="1B2A30"/>
                </a:solidFill>
                <a:latin typeface="Arial"/>
              </a:rPr>
              <a:t>Clinova pulls the two levers the FDA cost study names: looser enrollment rules and simpler protocols</a:t>
            </a:r>
          </a:p>
        </p:txBody>
      </p:sp>
      <p:sp>
        <p:nvSpPr>
          <p:cNvPr id="15" name="TextBox 14"/>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THE PROBLEM</a:t>
            </a:r>
          </a:p>
        </p:txBody>
      </p:sp>
      <p:sp>
        <p:nvSpPr>
          <p:cNvPr id="16"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Most trial delays are written into the protocol before the first patient is screened</a:t>
            </a:r>
          </a:p>
        </p:txBody>
      </p:sp>
      <p:sp>
        <p:nvSpPr>
          <p:cNvPr id="17" name="TextBox 16"/>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2 / 12</a:t>
            </a:r>
          </a:p>
        </p:txBody>
      </p:sp>
      <p:sp>
        <p:nvSpPr>
          <p:cNvPr id="18" name="TextBox 17"/>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docs/ARCHITECTURE.md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2331720"/>
            <a:ext cx="3429000" cy="3246120"/>
          </a:xfrm>
          <a:prstGeom prst="roundRect">
            <a:avLst>
              <a:gd name="adj" fmla="val 8000"/>
            </a:avLst>
          </a:prstGeom>
          <a:solidFill>
            <a:srgbClr val="E9F2F2"/>
          </a:solidFill>
          <a:ln>
            <a:noFill/>
          </a:ln>
        </p:spPr>
        <p:txBody>
          <a:bodyPr rtlCol="0" anchor="ctr"/>
          <a:lstStyle/>
          <a:p>
            <a:pPr algn="ctr"/>
          </a:p>
        </p:txBody>
      </p:sp>
      <p:sp>
        <p:nvSpPr>
          <p:cNvPr id="3" name="Oval 2"/>
          <p:cNvSpPr/>
          <p:nvPr/>
        </p:nvSpPr>
        <p:spPr>
          <a:xfrm>
            <a:off x="960119" y="2651760"/>
            <a:ext cx="685800" cy="68580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1</a:t>
            </a:r>
          </a:p>
        </p:txBody>
      </p:sp>
      <p:sp>
        <p:nvSpPr>
          <p:cNvPr id="4" name="TextBox 3"/>
          <p:cNvSpPr txBox="1"/>
          <p:nvPr/>
        </p:nvSpPr>
        <p:spPr>
          <a:xfrm>
            <a:off x="960119" y="3611880"/>
            <a:ext cx="2788920" cy="822960"/>
          </a:xfrm>
          <a:prstGeom prst="rect">
            <a:avLst/>
          </a:prstGeom>
          <a:noFill/>
        </p:spPr>
        <p:txBody>
          <a:bodyPr wrap="square" lIns="0" rIns="0" tIns="0" bIns="0" anchor="t"/>
          <a:lstStyle/>
          <a:p>
            <a:pPr algn="l">
              <a:lnSpc>
                <a:spcPct val="105000"/>
              </a:lnSpc>
              <a:spcAft>
                <a:spcPts val="0"/>
              </a:spcAft>
            </a:pPr>
            <a:r>
              <a:rPr sz="2200" b="1" i="0">
                <a:solidFill>
                  <a:srgbClr val="1B2A30"/>
                </a:solidFill>
                <a:latin typeface="Arial"/>
              </a:rPr>
              <a:t>Amendments are public</a:t>
            </a:r>
          </a:p>
        </p:txBody>
      </p:sp>
      <p:sp>
        <p:nvSpPr>
          <p:cNvPr id="5" name="TextBox 4"/>
          <p:cNvSpPr txBox="1"/>
          <p:nvPr/>
        </p:nvSpPr>
        <p:spPr>
          <a:xfrm>
            <a:off x="960119" y="4297680"/>
            <a:ext cx="2788920" cy="1188720"/>
          </a:xfrm>
          <a:prstGeom prst="rect">
            <a:avLst/>
          </a:prstGeom>
          <a:noFill/>
        </p:spPr>
        <p:txBody>
          <a:bodyPr wrap="square" lIns="0" rIns="0" tIns="0" bIns="0" anchor="t"/>
          <a:lstStyle/>
          <a:p>
            <a:pPr algn="l">
              <a:lnSpc>
                <a:spcPct val="115000"/>
              </a:lnSpc>
              <a:spcAft>
                <a:spcPts val="0"/>
              </a:spcAft>
            </a:pPr>
            <a:r>
              <a:rPr sz="1600" b="0" i="0">
                <a:solidFill>
                  <a:srgbClr val="5C6A70"/>
                </a:solidFill>
                <a:latin typeface="Arial"/>
              </a:rPr>
              <a:t>ClinicalTrials.gov keeps every registered version, so a widened rule is a checkable label</a:t>
            </a:r>
          </a:p>
        </p:txBody>
      </p:sp>
      <p:sp>
        <p:nvSpPr>
          <p:cNvPr id="6" name="Rounded Rectangle 5"/>
          <p:cNvSpPr/>
          <p:nvPr/>
        </p:nvSpPr>
        <p:spPr>
          <a:xfrm>
            <a:off x="4343400" y="2331720"/>
            <a:ext cx="3429000" cy="3246120"/>
          </a:xfrm>
          <a:prstGeom prst="roundRect">
            <a:avLst>
              <a:gd name="adj" fmla="val 8000"/>
            </a:avLst>
          </a:prstGeom>
          <a:solidFill>
            <a:srgbClr val="E9F2F2"/>
          </a:solidFill>
          <a:ln>
            <a:noFill/>
          </a:ln>
        </p:spPr>
        <p:txBody>
          <a:bodyPr rtlCol="0" anchor="ctr"/>
          <a:lstStyle/>
          <a:p>
            <a:pPr algn="ctr"/>
          </a:p>
        </p:txBody>
      </p:sp>
      <p:sp>
        <p:nvSpPr>
          <p:cNvPr id="7" name="Oval 6"/>
          <p:cNvSpPr/>
          <p:nvPr/>
        </p:nvSpPr>
        <p:spPr>
          <a:xfrm>
            <a:off x="4663440" y="2651760"/>
            <a:ext cx="685800" cy="68580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2</a:t>
            </a:r>
          </a:p>
        </p:txBody>
      </p:sp>
      <p:sp>
        <p:nvSpPr>
          <p:cNvPr id="8" name="TextBox 7"/>
          <p:cNvSpPr txBox="1"/>
          <p:nvPr/>
        </p:nvSpPr>
        <p:spPr>
          <a:xfrm>
            <a:off x="4663440" y="3611880"/>
            <a:ext cx="2788920" cy="822960"/>
          </a:xfrm>
          <a:prstGeom prst="rect">
            <a:avLst/>
          </a:prstGeom>
          <a:noFill/>
        </p:spPr>
        <p:txBody>
          <a:bodyPr wrap="square" lIns="0" rIns="0" tIns="0" bIns="0" anchor="t"/>
          <a:lstStyle/>
          <a:p>
            <a:pPr algn="l">
              <a:lnSpc>
                <a:spcPct val="105000"/>
              </a:lnSpc>
              <a:spcAft>
                <a:spcPts val="0"/>
              </a:spcAft>
            </a:pPr>
            <a:r>
              <a:rPr sz="2200" b="1" i="0">
                <a:solidFill>
                  <a:srgbClr val="1B2A30"/>
                </a:solidFill>
                <a:latin typeface="Arial"/>
              </a:rPr>
              <a:t>LLMs read eligibility</a:t>
            </a:r>
          </a:p>
        </p:txBody>
      </p:sp>
      <p:sp>
        <p:nvSpPr>
          <p:cNvPr id="9" name="TextBox 8"/>
          <p:cNvSpPr txBox="1"/>
          <p:nvPr/>
        </p:nvSpPr>
        <p:spPr>
          <a:xfrm>
            <a:off x="4663440" y="4297680"/>
            <a:ext cx="2788920" cy="1188720"/>
          </a:xfrm>
          <a:prstGeom prst="rect">
            <a:avLst/>
          </a:prstGeom>
          <a:noFill/>
        </p:spPr>
        <p:txBody>
          <a:bodyPr wrap="square" lIns="0" rIns="0" tIns="0" bIns="0" anchor="t"/>
          <a:lstStyle/>
          <a:p>
            <a:pPr algn="l">
              <a:lnSpc>
                <a:spcPct val="115000"/>
              </a:lnSpc>
              <a:spcAft>
                <a:spcPts val="0"/>
              </a:spcAft>
            </a:pPr>
            <a:r>
              <a:rPr sz="1600" b="0" i="0">
                <a:solidFill>
                  <a:srgbClr val="5C6A70"/>
                </a:solidFill>
                <a:latin typeface="Arial"/>
              </a:rPr>
              <a:t>Gemini turns free-text criteria into rules that code can check on virtual patients</a:t>
            </a:r>
          </a:p>
        </p:txBody>
      </p:sp>
      <p:sp>
        <p:nvSpPr>
          <p:cNvPr id="10" name="Rounded Rectangle 9"/>
          <p:cNvSpPr/>
          <p:nvPr/>
        </p:nvSpPr>
        <p:spPr>
          <a:xfrm>
            <a:off x="8046719" y="2331720"/>
            <a:ext cx="3429000" cy="3246120"/>
          </a:xfrm>
          <a:prstGeom prst="roundRect">
            <a:avLst>
              <a:gd name="adj" fmla="val 8000"/>
            </a:avLst>
          </a:prstGeom>
          <a:solidFill>
            <a:srgbClr val="E9F2F2"/>
          </a:solidFill>
          <a:ln>
            <a:noFill/>
          </a:ln>
        </p:spPr>
        <p:txBody>
          <a:bodyPr rtlCol="0" anchor="ctr"/>
          <a:lstStyle/>
          <a:p>
            <a:pPr algn="ctr"/>
          </a:p>
        </p:txBody>
      </p:sp>
      <p:sp>
        <p:nvSpPr>
          <p:cNvPr id="11" name="Oval 10"/>
          <p:cNvSpPr/>
          <p:nvPr/>
        </p:nvSpPr>
        <p:spPr>
          <a:xfrm>
            <a:off x="8366759" y="2651760"/>
            <a:ext cx="685800" cy="68580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3</a:t>
            </a:r>
          </a:p>
        </p:txBody>
      </p:sp>
      <p:sp>
        <p:nvSpPr>
          <p:cNvPr id="12" name="TextBox 11"/>
          <p:cNvSpPr txBox="1"/>
          <p:nvPr/>
        </p:nvSpPr>
        <p:spPr>
          <a:xfrm>
            <a:off x="8366759" y="3611880"/>
            <a:ext cx="2788920" cy="822960"/>
          </a:xfrm>
          <a:prstGeom prst="rect">
            <a:avLst/>
          </a:prstGeom>
          <a:noFill/>
        </p:spPr>
        <p:txBody>
          <a:bodyPr wrap="square" lIns="0" rIns="0" tIns="0" bIns="0" anchor="t"/>
          <a:lstStyle/>
          <a:p>
            <a:pPr algn="l">
              <a:lnSpc>
                <a:spcPct val="105000"/>
              </a:lnSpc>
              <a:spcAft>
                <a:spcPts val="0"/>
              </a:spcAft>
            </a:pPr>
            <a:r>
              <a:rPr sz="2200" b="1" i="0">
                <a:solidFill>
                  <a:srgbClr val="1B2A30"/>
                </a:solidFill>
                <a:latin typeface="Arial"/>
              </a:rPr>
              <a:t>Design is the AI gap</a:t>
            </a:r>
          </a:p>
        </p:txBody>
      </p:sp>
      <p:sp>
        <p:nvSpPr>
          <p:cNvPr id="13" name="TextBox 12"/>
          <p:cNvSpPr txBox="1"/>
          <p:nvPr/>
        </p:nvSpPr>
        <p:spPr>
          <a:xfrm>
            <a:off x="8366759" y="4297680"/>
            <a:ext cx="2788920" cy="1188720"/>
          </a:xfrm>
          <a:prstGeom prst="rect">
            <a:avLst/>
          </a:prstGeom>
          <a:noFill/>
        </p:spPr>
        <p:txBody>
          <a:bodyPr wrap="square" lIns="0" rIns="0" tIns="0" bIns="0" anchor="t"/>
          <a:lstStyle/>
          <a:p>
            <a:pPr algn="l">
              <a:lnSpc>
                <a:spcPct val="115000"/>
              </a:lnSpc>
              <a:spcAft>
                <a:spcPts val="0"/>
              </a:spcAft>
            </a:pPr>
            <a:r>
              <a:rPr sz="1600" b="0" i="0">
                <a:solidFill>
                  <a:srgbClr val="5C6A70"/>
                </a:solidFill>
                <a:latin typeface="Arial"/>
              </a:rPr>
              <a:t>Tufts CSDD 2024: full AI adoption is lowest in trial design and planning</a:t>
            </a:r>
          </a:p>
        </p:txBody>
      </p:sp>
      <p:sp>
        <p:nvSpPr>
          <p:cNvPr id="14" name="TextBox 13"/>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WHY NOW</a:t>
            </a:r>
          </a:p>
        </p:txBody>
      </p:sp>
      <p:sp>
        <p:nvSpPr>
          <p:cNvPr id="15"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Public version history and LLM parsing make protocol risk checkable today</a:t>
            </a:r>
          </a:p>
        </p:txBody>
      </p:sp>
      <p:sp>
        <p:nvSpPr>
          <p:cNvPr id="16" name="TextBox 15"/>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3 / 12</a:t>
            </a:r>
          </a:p>
        </p:txBody>
      </p:sp>
      <p:sp>
        <p:nvSpPr>
          <p:cNvPr id="17" name="TextBox 16"/>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docs/ARCHITECTURE.md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2560320"/>
            <a:ext cx="1962851" cy="2926080"/>
          </a:xfrm>
          <a:prstGeom prst="roundRect">
            <a:avLst>
              <a:gd name="adj" fmla="val 8000"/>
            </a:avLst>
          </a:prstGeom>
          <a:solidFill>
            <a:srgbClr val="E9F2F2"/>
          </a:solidFill>
          <a:ln>
            <a:noFill/>
          </a:ln>
        </p:spPr>
        <p:txBody>
          <a:bodyPr rtlCol="0" anchor="ctr"/>
          <a:lstStyle/>
          <a:p>
            <a:pPr algn="ctr"/>
          </a:p>
        </p:txBody>
      </p:sp>
      <p:sp>
        <p:nvSpPr>
          <p:cNvPr id="3" name="Oval 2"/>
          <p:cNvSpPr/>
          <p:nvPr/>
        </p:nvSpPr>
        <p:spPr>
          <a:xfrm>
            <a:off x="914400" y="2880360"/>
            <a:ext cx="640080" cy="64008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1</a:t>
            </a:r>
          </a:p>
        </p:txBody>
      </p:sp>
      <p:sp>
        <p:nvSpPr>
          <p:cNvPr id="4" name="TextBox 3"/>
          <p:cNvSpPr txBox="1"/>
          <p:nvPr/>
        </p:nvSpPr>
        <p:spPr>
          <a:xfrm>
            <a:off x="914400" y="3749040"/>
            <a:ext cx="1505651" cy="457200"/>
          </a:xfrm>
          <a:prstGeom prst="rect">
            <a:avLst/>
          </a:prstGeom>
          <a:noFill/>
        </p:spPr>
        <p:txBody>
          <a:bodyPr wrap="square" lIns="0" rIns="0" tIns="0" bIns="0" anchor="t"/>
          <a:lstStyle/>
          <a:p>
            <a:pPr algn="l">
              <a:lnSpc>
                <a:spcPct val="110000"/>
              </a:lnSpc>
              <a:spcAft>
                <a:spcPts val="0"/>
              </a:spcAft>
            </a:pPr>
            <a:r>
              <a:rPr sz="2200" b="1" i="0">
                <a:solidFill>
                  <a:srgbClr val="1B2A30"/>
                </a:solidFill>
                <a:latin typeface="Arial"/>
              </a:rPr>
              <a:t>Read</a:t>
            </a:r>
          </a:p>
        </p:txBody>
      </p:sp>
      <p:sp>
        <p:nvSpPr>
          <p:cNvPr id="5" name="TextBox 4"/>
          <p:cNvSpPr txBox="1"/>
          <p:nvPr/>
        </p:nvSpPr>
        <p:spPr>
          <a:xfrm>
            <a:off x="914400" y="4297680"/>
            <a:ext cx="1505651" cy="1097280"/>
          </a:xfrm>
          <a:prstGeom prst="rect">
            <a:avLst/>
          </a:prstGeom>
          <a:noFill/>
        </p:spPr>
        <p:txBody>
          <a:bodyPr wrap="square" lIns="0" rIns="0" tIns="0" bIns="0" anchor="t"/>
          <a:lstStyle/>
          <a:p>
            <a:pPr algn="l">
              <a:lnSpc>
                <a:spcPct val="115000"/>
              </a:lnSpc>
              <a:spcAft>
                <a:spcPts val="0"/>
              </a:spcAft>
            </a:pPr>
            <a:r>
              <a:rPr sz="1500" b="0" i="0">
                <a:solidFill>
                  <a:srgbClr val="5C6A70"/>
                </a:solidFill>
                <a:latin typeface="Arial"/>
              </a:rPr>
              <a:t>Draft text or NCT ID to coded rules and visits</a:t>
            </a:r>
          </a:p>
        </p:txBody>
      </p:sp>
      <p:cxnSp>
        <p:nvCxnSpPr>
          <p:cNvPr id="6" name="Connector 5"/>
          <p:cNvCxnSpPr/>
          <p:nvPr/>
        </p:nvCxnSpPr>
        <p:spPr>
          <a:xfrm>
            <a:off x="2630363" y="3200400"/>
            <a:ext cx="219456" cy="0"/>
          </a:xfrm>
          <a:prstGeom prst="line">
            <a:avLst/>
          </a:prstGeom>
          <a:ln w="3175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77251" y="2560320"/>
            <a:ext cx="1962851" cy="2926080"/>
          </a:xfrm>
          <a:prstGeom prst="roundRect">
            <a:avLst>
              <a:gd name="adj" fmla="val 8000"/>
            </a:avLst>
          </a:prstGeom>
          <a:solidFill>
            <a:srgbClr val="E9F2F2"/>
          </a:solidFill>
          <a:ln>
            <a:noFill/>
          </a:ln>
        </p:spPr>
        <p:txBody>
          <a:bodyPr rtlCol="0" anchor="ctr"/>
          <a:lstStyle/>
          <a:p>
            <a:pPr algn="ctr"/>
          </a:p>
        </p:txBody>
      </p:sp>
      <p:sp>
        <p:nvSpPr>
          <p:cNvPr id="8" name="Oval 7"/>
          <p:cNvSpPr/>
          <p:nvPr/>
        </p:nvSpPr>
        <p:spPr>
          <a:xfrm>
            <a:off x="3151571" y="2880360"/>
            <a:ext cx="640080" cy="64008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2</a:t>
            </a:r>
          </a:p>
        </p:txBody>
      </p:sp>
      <p:sp>
        <p:nvSpPr>
          <p:cNvPr id="9" name="TextBox 8"/>
          <p:cNvSpPr txBox="1"/>
          <p:nvPr/>
        </p:nvSpPr>
        <p:spPr>
          <a:xfrm>
            <a:off x="3151571" y="3749040"/>
            <a:ext cx="1505651" cy="457200"/>
          </a:xfrm>
          <a:prstGeom prst="rect">
            <a:avLst/>
          </a:prstGeom>
          <a:noFill/>
        </p:spPr>
        <p:txBody>
          <a:bodyPr wrap="square" lIns="0" rIns="0" tIns="0" bIns="0" anchor="t"/>
          <a:lstStyle/>
          <a:p>
            <a:pPr algn="l">
              <a:lnSpc>
                <a:spcPct val="110000"/>
              </a:lnSpc>
              <a:spcAft>
                <a:spcPts val="0"/>
              </a:spcAft>
            </a:pPr>
            <a:r>
              <a:rPr sz="2200" b="1" i="0">
                <a:solidFill>
                  <a:srgbClr val="1B2A30"/>
                </a:solidFill>
                <a:latin typeface="Arial"/>
              </a:rPr>
              <a:t>Simulate</a:t>
            </a:r>
          </a:p>
        </p:txBody>
      </p:sp>
      <p:sp>
        <p:nvSpPr>
          <p:cNvPr id="10" name="TextBox 9"/>
          <p:cNvSpPr txBox="1"/>
          <p:nvPr/>
        </p:nvSpPr>
        <p:spPr>
          <a:xfrm>
            <a:off x="3151571" y="4297680"/>
            <a:ext cx="1505651" cy="1097280"/>
          </a:xfrm>
          <a:prstGeom prst="rect">
            <a:avLst/>
          </a:prstGeom>
          <a:noFill/>
        </p:spPr>
        <p:txBody>
          <a:bodyPr wrap="square" lIns="0" rIns="0" tIns="0" bIns="0" anchor="t"/>
          <a:lstStyle/>
          <a:p>
            <a:pPr algn="l">
              <a:lnSpc>
                <a:spcPct val="115000"/>
              </a:lnSpc>
              <a:spcAft>
                <a:spcPts val="0"/>
              </a:spcAft>
            </a:pPr>
            <a:r>
              <a:rPr sz="1500" b="0" i="0">
                <a:solidFill>
                  <a:srgbClr val="5C6A70"/>
                </a:solidFill>
                <a:latin typeface="Arial"/>
              </a:rPr>
              <a:t>Virtual NSCLC cohort, screened in code; persona agents decide</a:t>
            </a:r>
          </a:p>
        </p:txBody>
      </p:sp>
      <p:cxnSp>
        <p:nvCxnSpPr>
          <p:cNvPr id="11" name="Connector 10"/>
          <p:cNvCxnSpPr/>
          <p:nvPr/>
        </p:nvCxnSpPr>
        <p:spPr>
          <a:xfrm>
            <a:off x="4867534" y="3200400"/>
            <a:ext cx="219456" cy="0"/>
          </a:xfrm>
          <a:prstGeom prst="line">
            <a:avLst/>
          </a:prstGeom>
          <a:ln w="3175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14422" y="2560320"/>
            <a:ext cx="1962851" cy="2926080"/>
          </a:xfrm>
          <a:prstGeom prst="roundRect">
            <a:avLst>
              <a:gd name="adj" fmla="val 8000"/>
            </a:avLst>
          </a:prstGeom>
          <a:solidFill>
            <a:srgbClr val="E9F2F2"/>
          </a:solidFill>
          <a:ln>
            <a:noFill/>
          </a:ln>
        </p:spPr>
        <p:txBody>
          <a:bodyPr rtlCol="0" anchor="ctr"/>
          <a:lstStyle/>
          <a:p>
            <a:pPr algn="ctr"/>
          </a:p>
        </p:txBody>
      </p:sp>
      <p:sp>
        <p:nvSpPr>
          <p:cNvPr id="13" name="Oval 12"/>
          <p:cNvSpPr/>
          <p:nvPr/>
        </p:nvSpPr>
        <p:spPr>
          <a:xfrm>
            <a:off x="5388742" y="2880360"/>
            <a:ext cx="640080" cy="64008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3</a:t>
            </a:r>
          </a:p>
        </p:txBody>
      </p:sp>
      <p:sp>
        <p:nvSpPr>
          <p:cNvPr id="14" name="TextBox 13"/>
          <p:cNvSpPr txBox="1"/>
          <p:nvPr/>
        </p:nvSpPr>
        <p:spPr>
          <a:xfrm>
            <a:off x="5388742" y="3749040"/>
            <a:ext cx="1505651" cy="457200"/>
          </a:xfrm>
          <a:prstGeom prst="rect">
            <a:avLst/>
          </a:prstGeom>
          <a:noFill/>
        </p:spPr>
        <p:txBody>
          <a:bodyPr wrap="square" lIns="0" rIns="0" tIns="0" bIns="0" anchor="t"/>
          <a:lstStyle/>
          <a:p>
            <a:pPr algn="l">
              <a:lnSpc>
                <a:spcPct val="110000"/>
              </a:lnSpc>
              <a:spcAft>
                <a:spcPts val="0"/>
              </a:spcAft>
            </a:pPr>
            <a:r>
              <a:rPr sz="2200" b="1" i="0">
                <a:solidFill>
                  <a:srgbClr val="1B2A30"/>
                </a:solidFill>
                <a:latin typeface="Arial"/>
              </a:rPr>
              <a:t>Calibrate</a:t>
            </a:r>
          </a:p>
        </p:txBody>
      </p:sp>
      <p:sp>
        <p:nvSpPr>
          <p:cNvPr id="15" name="TextBox 14"/>
          <p:cNvSpPr txBox="1"/>
          <p:nvPr/>
        </p:nvSpPr>
        <p:spPr>
          <a:xfrm>
            <a:off x="5388742" y="4297680"/>
            <a:ext cx="1505651" cy="1097280"/>
          </a:xfrm>
          <a:prstGeom prst="rect">
            <a:avLst/>
          </a:prstGeom>
          <a:noFill/>
        </p:spPr>
        <p:txBody>
          <a:bodyPr wrap="square" lIns="0" rIns="0" tIns="0" bIns="0" anchor="t"/>
          <a:lstStyle/>
          <a:p>
            <a:pPr algn="l">
              <a:lnSpc>
                <a:spcPct val="115000"/>
              </a:lnSpc>
              <a:spcAft>
                <a:spcPts val="0"/>
              </a:spcAft>
            </a:pPr>
            <a:r>
              <a:rPr sz="1500" b="0" i="0">
                <a:solidFill>
                  <a:srgbClr val="5C6A70"/>
                </a:solidFill>
                <a:latin typeface="Arial"/>
              </a:rPr>
              <a:t>LightGBM on real trials, explained by SHAP</a:t>
            </a:r>
          </a:p>
        </p:txBody>
      </p:sp>
      <p:cxnSp>
        <p:nvCxnSpPr>
          <p:cNvPr id="16" name="Connector 15"/>
          <p:cNvCxnSpPr/>
          <p:nvPr/>
        </p:nvCxnSpPr>
        <p:spPr>
          <a:xfrm>
            <a:off x="7104705" y="3200400"/>
            <a:ext cx="219456" cy="0"/>
          </a:xfrm>
          <a:prstGeom prst="line">
            <a:avLst/>
          </a:prstGeom>
          <a:ln w="3175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51593" y="2560320"/>
            <a:ext cx="1962851" cy="2926080"/>
          </a:xfrm>
          <a:prstGeom prst="roundRect">
            <a:avLst>
              <a:gd name="adj" fmla="val 8000"/>
            </a:avLst>
          </a:prstGeom>
          <a:solidFill>
            <a:srgbClr val="E9F2F2"/>
          </a:solidFill>
          <a:ln>
            <a:noFill/>
          </a:ln>
        </p:spPr>
        <p:txBody>
          <a:bodyPr rtlCol="0" anchor="ctr"/>
          <a:lstStyle/>
          <a:p>
            <a:pPr algn="ctr"/>
          </a:p>
        </p:txBody>
      </p:sp>
      <p:sp>
        <p:nvSpPr>
          <p:cNvPr id="18" name="Oval 17"/>
          <p:cNvSpPr/>
          <p:nvPr/>
        </p:nvSpPr>
        <p:spPr>
          <a:xfrm>
            <a:off x="7625913" y="2880360"/>
            <a:ext cx="640080" cy="64008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4</a:t>
            </a:r>
          </a:p>
        </p:txBody>
      </p:sp>
      <p:sp>
        <p:nvSpPr>
          <p:cNvPr id="19" name="TextBox 18"/>
          <p:cNvSpPr txBox="1"/>
          <p:nvPr/>
        </p:nvSpPr>
        <p:spPr>
          <a:xfrm>
            <a:off x="7625913" y="3749040"/>
            <a:ext cx="1505651" cy="457200"/>
          </a:xfrm>
          <a:prstGeom prst="rect">
            <a:avLst/>
          </a:prstGeom>
          <a:noFill/>
        </p:spPr>
        <p:txBody>
          <a:bodyPr wrap="square" lIns="0" rIns="0" tIns="0" bIns="0" anchor="t"/>
          <a:lstStyle/>
          <a:p>
            <a:pPr algn="l">
              <a:lnSpc>
                <a:spcPct val="110000"/>
              </a:lnSpc>
              <a:spcAft>
                <a:spcPts val="0"/>
              </a:spcAft>
            </a:pPr>
            <a:r>
              <a:rPr sz="2200" b="1" i="0">
                <a:solidFill>
                  <a:srgbClr val="1B2A30"/>
                </a:solidFill>
                <a:latin typeface="Arial"/>
              </a:rPr>
              <a:t>Optimize</a:t>
            </a:r>
          </a:p>
        </p:txBody>
      </p:sp>
      <p:sp>
        <p:nvSpPr>
          <p:cNvPr id="20" name="TextBox 19"/>
          <p:cNvSpPr txBox="1"/>
          <p:nvPr/>
        </p:nvSpPr>
        <p:spPr>
          <a:xfrm>
            <a:off x="7625913" y="4297680"/>
            <a:ext cx="1505651" cy="1097280"/>
          </a:xfrm>
          <a:prstGeom prst="rect">
            <a:avLst/>
          </a:prstGeom>
          <a:noFill/>
        </p:spPr>
        <p:txBody>
          <a:bodyPr wrap="square" lIns="0" rIns="0" tIns="0" bIns="0" anchor="t"/>
          <a:lstStyle/>
          <a:p>
            <a:pPr algn="l">
              <a:lnSpc>
                <a:spcPct val="115000"/>
              </a:lnSpc>
              <a:spcAft>
                <a:spcPts val="0"/>
              </a:spcAft>
            </a:pPr>
            <a:r>
              <a:rPr sz="1500" b="0" i="0">
                <a:solidFill>
                  <a:srgbClr val="5C6A70"/>
                </a:solidFill>
                <a:latin typeface="Arial"/>
              </a:rPr>
              <a:t>Test edits; trade-offs with ranges and dollars</a:t>
            </a:r>
          </a:p>
        </p:txBody>
      </p:sp>
      <p:cxnSp>
        <p:nvCxnSpPr>
          <p:cNvPr id="21" name="Connector 20"/>
          <p:cNvCxnSpPr/>
          <p:nvPr/>
        </p:nvCxnSpPr>
        <p:spPr>
          <a:xfrm>
            <a:off x="9341876" y="3200400"/>
            <a:ext cx="219456" cy="0"/>
          </a:xfrm>
          <a:prstGeom prst="line">
            <a:avLst/>
          </a:prstGeom>
          <a:ln w="3175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588764" y="2560320"/>
            <a:ext cx="1962851" cy="2926080"/>
          </a:xfrm>
          <a:prstGeom prst="roundRect">
            <a:avLst>
              <a:gd name="adj" fmla="val 8000"/>
            </a:avLst>
          </a:prstGeom>
          <a:solidFill>
            <a:srgbClr val="E9F2F2"/>
          </a:solidFill>
          <a:ln>
            <a:noFill/>
          </a:ln>
        </p:spPr>
        <p:txBody>
          <a:bodyPr rtlCol="0" anchor="ctr"/>
          <a:lstStyle/>
          <a:p>
            <a:pPr algn="ctr"/>
          </a:p>
        </p:txBody>
      </p:sp>
      <p:sp>
        <p:nvSpPr>
          <p:cNvPr id="23" name="Oval 22"/>
          <p:cNvSpPr/>
          <p:nvPr/>
        </p:nvSpPr>
        <p:spPr>
          <a:xfrm>
            <a:off x="9863084" y="2880360"/>
            <a:ext cx="640080" cy="640080"/>
          </a:xfrm>
          <a:prstGeom prst="ellipse">
            <a:avLst/>
          </a:prstGeom>
          <a:solidFill>
            <a:srgbClr val="0E5E63"/>
          </a:solidFill>
          <a:ln>
            <a:noFill/>
          </a:ln>
        </p:spPr>
        <p:txBody>
          <a:bodyPr rtlCol="0" anchor="ctr" lIns="0" rIns="0" tIns="0" bIns="0"/>
          <a:lstStyle/>
          <a:p>
            <a:pPr algn="ctr"/>
            <a:r>
              <a:rPr sz="2000" b="1">
                <a:solidFill>
                  <a:srgbClr val="FFFFFF"/>
                </a:solidFill>
                <a:latin typeface="Arial"/>
              </a:rPr>
              <a:t>5</a:t>
            </a:r>
          </a:p>
        </p:txBody>
      </p:sp>
      <p:sp>
        <p:nvSpPr>
          <p:cNvPr id="24" name="TextBox 23"/>
          <p:cNvSpPr txBox="1"/>
          <p:nvPr/>
        </p:nvSpPr>
        <p:spPr>
          <a:xfrm>
            <a:off x="9863084" y="3749040"/>
            <a:ext cx="1505651" cy="457200"/>
          </a:xfrm>
          <a:prstGeom prst="rect">
            <a:avLst/>
          </a:prstGeom>
          <a:noFill/>
        </p:spPr>
        <p:txBody>
          <a:bodyPr wrap="square" lIns="0" rIns="0" tIns="0" bIns="0" anchor="t"/>
          <a:lstStyle/>
          <a:p>
            <a:pPr algn="l">
              <a:lnSpc>
                <a:spcPct val="110000"/>
              </a:lnSpc>
              <a:spcAft>
                <a:spcPts val="0"/>
              </a:spcAft>
            </a:pPr>
            <a:r>
              <a:rPr sz="2200" b="1" i="0">
                <a:solidFill>
                  <a:srgbClr val="1B2A30"/>
                </a:solidFill>
                <a:latin typeface="Arial"/>
              </a:rPr>
              <a:t>Learn</a:t>
            </a:r>
          </a:p>
        </p:txBody>
      </p:sp>
      <p:sp>
        <p:nvSpPr>
          <p:cNvPr id="25" name="TextBox 24"/>
          <p:cNvSpPr txBox="1"/>
          <p:nvPr/>
        </p:nvSpPr>
        <p:spPr>
          <a:xfrm>
            <a:off x="9863084" y="4297680"/>
            <a:ext cx="1505651" cy="1097280"/>
          </a:xfrm>
          <a:prstGeom prst="rect">
            <a:avLst/>
          </a:prstGeom>
          <a:noFill/>
        </p:spPr>
        <p:txBody>
          <a:bodyPr wrap="square" lIns="0" rIns="0" tIns="0" bIns="0" anchor="t"/>
          <a:lstStyle/>
          <a:p>
            <a:pPr algn="l">
              <a:lnSpc>
                <a:spcPct val="115000"/>
              </a:lnSpc>
              <a:spcAft>
                <a:spcPts val="0"/>
              </a:spcAft>
            </a:pPr>
            <a:r>
              <a:rPr sz="1500" b="0" i="0">
                <a:solidFill>
                  <a:srgbClr val="5C6A70"/>
                </a:solidFill>
                <a:latin typeface="Arial"/>
              </a:rPr>
              <a:t>Log every prediction, score it when the trial ends</a:t>
            </a:r>
          </a:p>
        </p:txBody>
      </p:sp>
      <p:sp>
        <p:nvSpPr>
          <p:cNvPr id="26" name="TextBox 25"/>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WHAT CLINOVA DOES</a:t>
            </a:r>
          </a:p>
        </p:txBody>
      </p:sp>
      <p:sp>
        <p:nvSpPr>
          <p:cNvPr id="27"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Clinova test-flies a protocol in five steps, from draft text to a graded risk</a:t>
            </a:r>
          </a:p>
        </p:txBody>
      </p:sp>
      <p:sp>
        <p:nvSpPr>
          <p:cNvPr id="28" name="TextBox 27"/>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4 / 12</a:t>
            </a:r>
          </a:p>
        </p:txBody>
      </p:sp>
      <p:sp>
        <p:nvSpPr>
          <p:cNvPr id="29" name="TextBox 28"/>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docs/ARCHITECTURE.md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emo_exclusions.png"/>
          <p:cNvPicPr>
            <a:picLocks noChangeAspect="1"/>
          </p:cNvPicPr>
          <p:nvPr/>
        </p:nvPicPr>
        <p:blipFill>
          <a:blip r:embed="rId2"/>
          <a:stretch>
            <a:fillRect/>
          </a:stretch>
        </p:blipFill>
        <p:spPr>
          <a:xfrm>
            <a:off x="640080" y="2266749"/>
            <a:ext cx="5852159" cy="3696101"/>
          </a:xfrm>
          <a:prstGeom prst="rect">
            <a:avLst/>
          </a:prstGeom>
        </p:spPr>
      </p:pic>
      <p:sp>
        <p:nvSpPr>
          <p:cNvPr id="3" name="TextBox 2"/>
          <p:cNvSpPr txBox="1"/>
          <p:nvPr/>
        </p:nvSpPr>
        <p:spPr>
          <a:xfrm>
            <a:off x="6903720" y="2286000"/>
            <a:ext cx="4647895" cy="457200"/>
          </a:xfrm>
          <a:prstGeom prst="rect">
            <a:avLst/>
          </a:prstGeom>
          <a:noFill/>
        </p:spPr>
        <p:txBody>
          <a:bodyPr wrap="square" lIns="0" rIns="0" tIns="0" bIns="0" anchor="t"/>
          <a:lstStyle/>
          <a:p>
            <a:pPr algn="l">
              <a:lnSpc>
                <a:spcPct val="110000"/>
              </a:lnSpc>
              <a:spcAft>
                <a:spcPts val="0"/>
              </a:spcAft>
            </a:pPr>
            <a:r>
              <a:rPr sz="2400" b="1" i="0">
                <a:solidFill>
                  <a:srgbClr val="0E5E63"/>
                </a:solidFill>
                <a:latin typeface="Arial"/>
              </a:rPr>
              <a:t>NCT03232892</a:t>
            </a:r>
          </a:p>
        </p:txBody>
      </p:sp>
      <p:sp>
        <p:nvSpPr>
          <p:cNvPr id="4" name="TextBox 3"/>
          <p:cNvSpPr txBox="1"/>
          <p:nvPr/>
        </p:nvSpPr>
        <p:spPr>
          <a:xfrm>
            <a:off x="6903720" y="2788920"/>
            <a:ext cx="4647895" cy="457200"/>
          </a:xfrm>
          <a:prstGeom prst="rect">
            <a:avLst/>
          </a:prstGeom>
          <a:noFill/>
        </p:spPr>
        <p:txBody>
          <a:bodyPr wrap="square" lIns="0" rIns="0" tIns="0" bIns="0" anchor="t"/>
          <a:lstStyle/>
          <a:p>
            <a:pPr algn="l">
              <a:lnSpc>
                <a:spcPct val="110000"/>
              </a:lnSpc>
              <a:spcAft>
                <a:spcPts val="0"/>
              </a:spcAft>
            </a:pPr>
            <a:r>
              <a:rPr sz="1600" b="0" i="0">
                <a:solidFill>
                  <a:srgbClr val="5C6A70"/>
                </a:solidFill>
                <a:latin typeface="Arial"/>
              </a:rPr>
              <a:t>Terminated 2019-09-11: “Low Accrual”</a:t>
            </a:r>
          </a:p>
        </p:txBody>
      </p:sp>
      <p:sp>
        <p:nvSpPr>
          <p:cNvPr id="5" name="TextBox 4"/>
          <p:cNvSpPr txBox="1"/>
          <p:nvPr/>
        </p:nvSpPr>
        <p:spPr>
          <a:xfrm>
            <a:off x="6903720" y="3474720"/>
            <a:ext cx="4647895" cy="2194560"/>
          </a:xfrm>
          <a:prstGeom prst="rect">
            <a:avLst/>
          </a:prstGeom>
          <a:noFill/>
        </p:spPr>
        <p:txBody>
          <a:bodyPr wrap="square" lIns="0" rIns="0" tIns="0" bIns="0" anchor="t"/>
          <a:lstStyle/>
          <a:p>
            <a:pPr algn="l" marL="251460" indent="-251460">
              <a:lnSpc>
                <a:spcPct val="110000"/>
              </a:lnSpc>
              <a:spcAft>
                <a:spcPts val="1350"/>
              </a:spcAft>
              <a:buClr>
                <a:srgbClr val="2E8A8F"/>
              </a:buClr>
              <a:buSzPct val="100000"/>
              <a:buFont typeface="Arial"/>
              <a:buChar char="•"/>
            </a:pPr>
            <a:r>
              <a:rPr sz="1800" b="0" i="0">
                <a:solidFill>
                  <a:srgbClr val="1B2A30"/>
                </a:solidFill>
                <a:latin typeface="Arial"/>
              </a:rPr>
              <a:t>21.4% of 1,000 virtual patients pass the first registered criteria</a:t>
            </a:r>
          </a:p>
          <a:p>
            <a:pPr algn="l" marL="251460" indent="-251460">
              <a:lnSpc>
                <a:spcPct val="110000"/>
              </a:lnSpc>
              <a:spcAft>
                <a:spcPts val="1350"/>
              </a:spcAft>
              <a:buClr>
                <a:srgbClr val="2E8A8F"/>
              </a:buClr>
              <a:buSzPct val="100000"/>
              <a:buFont typeface="Arial"/>
              <a:buChar char="•"/>
            </a:pPr>
            <a:r>
              <a:rPr sz="1800" b="0" i="0">
                <a:solidFill>
                  <a:srgbClr val="1B2A30"/>
                </a:solidFill>
                <a:latin typeface="Arial"/>
              </a:rPr>
              <a:t>ECOG &lt;= 1 excludes the most (35%)</a:t>
            </a:r>
          </a:p>
          <a:p>
            <a:pPr algn="l" marL="251460" indent="-251460">
              <a:lnSpc>
                <a:spcPct val="110000"/>
              </a:lnSpc>
              <a:spcAft>
                <a:spcPts val="1350"/>
              </a:spcAft>
              <a:buClr>
                <a:srgbClr val="2E8A8F"/>
              </a:buClr>
              <a:buSzPct val="100000"/>
              <a:buFont typeface="Arial"/>
              <a:buChar char="•"/>
            </a:pPr>
            <a:r>
              <a:rPr sz="1800" b="0" i="0">
                <a:solidFill>
                  <a:srgbClr val="1B2A30"/>
                </a:solidFill>
                <a:latin typeface="Arial"/>
              </a:rPr>
              <a:t>Did our top 3 flags include the widened rule? [TBD: demo flags (docs/deck/data/demo.json)]</a:t>
            </a:r>
          </a:p>
        </p:txBody>
      </p:sp>
      <p:sp>
        <p:nvSpPr>
          <p:cNvPr id="6" name="TextBox 5"/>
          <p:cNvSpPr txBox="1"/>
          <p:nvPr/>
        </p:nvSpPr>
        <p:spPr>
          <a:xfrm>
            <a:off x="6903720" y="5715000"/>
            <a:ext cx="4647895" cy="365760"/>
          </a:xfrm>
          <a:prstGeom prst="rect">
            <a:avLst/>
          </a:prstGeom>
          <a:noFill/>
        </p:spPr>
        <p:txBody>
          <a:bodyPr wrap="square" lIns="0" rIns="0" tIns="0" bIns="0" anchor="t"/>
          <a:lstStyle/>
          <a:p>
            <a:pPr algn="l">
              <a:lnSpc>
                <a:spcPct val="110000"/>
              </a:lnSpc>
              <a:spcAft>
                <a:spcPts val="0"/>
              </a:spcAft>
            </a:pPr>
            <a:r>
              <a:rPr sz="1300" b="0" i="0">
                <a:solidFill>
                  <a:srgbClr val="C8492F"/>
                </a:solidFill>
                <a:latin typeface="Arial"/>
              </a:rPr>
              <a:t>Coral bars: rules the sponsor later widened</a:t>
            </a:r>
          </a:p>
        </p:txBody>
      </p:sp>
      <p:sp>
        <p:nvSpPr>
          <p:cNvPr id="7" name="TextBox 6"/>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BACKTEST ON A REAL TERMINATED TRIAL</a:t>
            </a:r>
          </a:p>
        </p:txBody>
      </p:sp>
      <p:sp>
        <p:nvSpPr>
          <p:cNvPr id="8"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Backtest: from NCT03232892's first protocol, Clinova finds where enrollment stalls</a:t>
            </a:r>
          </a:p>
        </p:txBody>
      </p:sp>
      <p:sp>
        <p:nvSpPr>
          <p:cNvPr id="9" name="TextBox 8"/>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5 / 12</a:t>
            </a:r>
          </a:p>
        </p:txBody>
      </p:sp>
      <p:sp>
        <p:nvSpPr>
          <p:cNvPr id="10" name="TextBox 9"/>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docs/demo_trial.md, docs/gate1_e2e.json (seed 1), docs/deck/data/demo.json</a:t>
            </a:r>
          </a:p>
        </p:txBody>
      </p:sp>
      <p:sp>
        <p:nvSpPr>
          <p:cNvPr id="11" name="Rounded Rectangle 10"/>
          <p:cNvSpPr/>
          <p:nvPr/>
        </p:nvSpPr>
        <p:spPr>
          <a:xfrm>
            <a:off x="8534095" y="384048"/>
            <a:ext cx="3017520" cy="384048"/>
          </a:xfrm>
          <a:prstGeom prst="roundRect">
            <a:avLst>
              <a:gd name="adj" fmla="val 30000"/>
            </a:avLst>
          </a:prstGeom>
          <a:solidFill>
            <a:srgbClr val="C8492F"/>
          </a:solidFill>
          <a:ln>
            <a:noFill/>
          </a:ln>
        </p:spPr>
        <p:txBody>
          <a:bodyPr rtlCol="0" anchor="ctr" tIns="0" bIns="0"/>
          <a:lstStyle/>
          <a:p>
            <a:pPr algn="ctr"/>
            <a:r>
              <a:rPr sz="1200" b="1">
                <a:solidFill>
                  <a:srgbClr val="FFFFFF"/>
                </a:solidFill>
                <a:latin typeface="Arial"/>
              </a:rPr>
              <a:t>DRAFT: placeholder numbers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3503" y="2203704"/>
            <a:ext cx="7114032" cy="4033647"/>
          </a:xfrm>
          <a:prstGeom prst="roundRect">
            <a:avLst>
              <a:gd name="adj" fmla="val 2000"/>
            </a:avLst>
          </a:prstGeom>
          <a:solidFill>
            <a:srgbClr val="D5DDE0"/>
          </a:solidFill>
          <a:ln>
            <a:noFill/>
          </a:ln>
        </p:spPr>
        <p:txBody>
          <a:bodyPr rtlCol="0" anchor="ctr"/>
          <a:lstStyle/>
          <a:p>
            <a:pPr algn="ctr"/>
          </a:p>
        </p:txBody>
      </p:sp>
      <p:pic>
        <p:nvPicPr>
          <p:cNvPr id="3" name="Picture 2" descr="screen_results.png"/>
          <p:cNvPicPr>
            <a:picLocks noChangeAspect="1"/>
          </p:cNvPicPr>
          <p:nvPr/>
        </p:nvPicPr>
        <p:blipFill>
          <a:blip r:embed="rId2"/>
          <a:stretch>
            <a:fillRect/>
          </a:stretch>
        </p:blipFill>
        <p:spPr>
          <a:xfrm>
            <a:off x="640080" y="2240280"/>
            <a:ext cx="7040880" cy="3960495"/>
          </a:xfrm>
          <a:prstGeom prst="rect">
            <a:avLst/>
          </a:prstGeom>
        </p:spPr>
      </p:pic>
      <p:sp>
        <p:nvSpPr>
          <p:cNvPr id="4" name="TextBox 3"/>
          <p:cNvSpPr txBox="1"/>
          <p:nvPr/>
        </p:nvSpPr>
        <p:spPr>
          <a:xfrm>
            <a:off x="8138160" y="2331720"/>
            <a:ext cx="3413455" cy="2194560"/>
          </a:xfrm>
          <a:prstGeom prst="rect">
            <a:avLst/>
          </a:prstGeom>
          <a:noFill/>
        </p:spPr>
        <p:txBody>
          <a:bodyPr wrap="square" lIns="0" rIns="0" tIns="0" bIns="0" anchor="t"/>
          <a:lstStyle/>
          <a:p>
            <a:pPr algn="l" marL="251460" indent="-251460">
              <a:lnSpc>
                <a:spcPct val="110000"/>
              </a:lnSpc>
              <a:spcAft>
                <a:spcPts val="1350"/>
              </a:spcAft>
              <a:buClr>
                <a:srgbClr val="2E8A8F"/>
              </a:buClr>
              <a:buSzPct val="100000"/>
              <a:buFont typeface="Arial"/>
              <a:buChar char="•"/>
            </a:pPr>
            <a:r>
              <a:rPr sz="1800" b="0" i="0">
                <a:solidFill>
                  <a:srgbClr val="1B2A30"/>
                </a:solidFill>
                <a:latin typeface="Arial"/>
              </a:rPr>
              <a:t>Funnel: who is excluded by which rule, who enrolls, who completes</a:t>
            </a:r>
          </a:p>
          <a:p>
            <a:pPr algn="l" marL="251460" indent="-251460">
              <a:lnSpc>
                <a:spcPct val="110000"/>
              </a:lnSpc>
              <a:spcAft>
                <a:spcPts val="1350"/>
              </a:spcAft>
              <a:buClr>
                <a:srgbClr val="2E8A8F"/>
              </a:buClr>
              <a:buSzPct val="100000"/>
              <a:buFont typeface="Arial"/>
              <a:buChar char="•"/>
            </a:pPr>
            <a:r>
              <a:rPr sz="1800" b="0" i="0">
                <a:solidFill>
                  <a:srgbClr val="1B2A30"/>
                </a:solidFill>
                <a:latin typeface="Arial"/>
              </a:rPr>
              <a:t>Risk: calibrated probability with a range and top drivers in plain words</a:t>
            </a:r>
          </a:p>
          <a:p>
            <a:pPr algn="l" marL="251460" indent="-251460">
              <a:lnSpc>
                <a:spcPct val="110000"/>
              </a:lnSpc>
              <a:spcAft>
                <a:spcPts val="1350"/>
              </a:spcAft>
              <a:buClr>
                <a:srgbClr val="2E8A8F"/>
              </a:buClr>
              <a:buSzPct val="100000"/>
              <a:buFont typeface="Arial"/>
              <a:buChar char="•"/>
            </a:pPr>
            <a:r>
              <a:rPr sz="1800" b="0" i="0">
                <a:solidFill>
                  <a:srgbClr val="1B2A30"/>
                </a:solidFill>
                <a:latin typeface="Arial"/>
              </a:rPr>
              <a:t>Fixes: three trade-offs; accept one and it re-runs in seconds</a:t>
            </a:r>
          </a:p>
        </p:txBody>
      </p:sp>
      <p:sp>
        <p:nvSpPr>
          <p:cNvPr id="5" name="TextBox 4"/>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LIVE DEMO</a:t>
            </a:r>
          </a:p>
        </p:txBody>
      </p:sp>
      <p:sp>
        <p:nvSpPr>
          <p:cNvPr id="6"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One screen shows the funnel, the calibrated risk and three fixes</a:t>
            </a:r>
          </a:p>
        </p:txBody>
      </p:sp>
      <p:sp>
        <p:nvSpPr>
          <p:cNvPr id="7" name="TextBox 6"/>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6 / 12</a:t>
            </a:r>
          </a:p>
        </p:txBody>
      </p:sp>
      <p:sp>
        <p:nvSpPr>
          <p:cNvPr id="8" name="TextBox 7"/>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docs/screens/03-results.png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2331720"/>
            <a:ext cx="10911535" cy="3291840"/>
          </a:xfrm>
          <a:prstGeom prst="roundRect">
            <a:avLst>
              <a:gd name="adj" fmla="val 4000"/>
            </a:avLst>
          </a:prstGeom>
          <a:noFill/>
          <a:ln w="15875">
            <a:solidFill>
              <a:srgbClr val="C8492F"/>
            </a:solidFill>
          </a:ln>
        </p:spPr>
        <p:txBody>
          <a:bodyPr rtlCol="0" anchor="ctr"/>
          <a:lstStyle/>
          <a:p>
            <a:pPr algn="ctr"/>
          </a:p>
        </p:txBody>
      </p:sp>
      <p:sp>
        <p:nvSpPr>
          <p:cNvPr id="3" name="TextBox 2"/>
          <p:cNvSpPr txBox="1"/>
          <p:nvPr/>
        </p:nvSpPr>
        <p:spPr>
          <a:xfrm>
            <a:off x="914400" y="2331720"/>
            <a:ext cx="10362895" cy="3291840"/>
          </a:xfrm>
          <a:prstGeom prst="rect">
            <a:avLst/>
          </a:prstGeom>
          <a:noFill/>
        </p:spPr>
        <p:txBody>
          <a:bodyPr wrap="square" lIns="0" rIns="0" tIns="0" bIns="0" anchor="ctr"/>
          <a:lstStyle/>
          <a:p>
            <a:pPr algn="ctr">
              <a:lnSpc>
                <a:spcPct val="110000"/>
              </a:lnSpc>
              <a:spcAft>
                <a:spcPts val="0"/>
              </a:spcAft>
            </a:pPr>
            <a:r>
              <a:rPr sz="1800" b="0" i="0">
                <a:solidFill>
                  <a:srgbClr val="C8492F"/>
                </a:solidFill>
                <a:latin typeface="Arial"/>
              </a:rPr>
              <a:t>[TBD: demo fixes from docs/deck/data/demo.json]</a:t>
            </a:r>
          </a:p>
        </p:txBody>
      </p:sp>
      <p:sp>
        <p:nvSpPr>
          <p:cNvPr id="4" name="TextBox 3"/>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OPTIMIZER</a:t>
            </a:r>
          </a:p>
        </p:txBody>
      </p:sp>
      <p:sp>
        <p:nvSpPr>
          <p:cNvPr id="5"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The optimizer proposes three trade-offs, each with a range and a dollar value</a:t>
            </a:r>
          </a:p>
        </p:txBody>
      </p:sp>
      <p:sp>
        <p:nvSpPr>
          <p:cNvPr id="6" name="TextBox 5"/>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7 / 12</a:t>
            </a:r>
          </a:p>
        </p:txBody>
      </p:sp>
      <p:sp>
        <p:nvSpPr>
          <p:cNvPr id="7" name="TextBox 6"/>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docs/deck/data/demo.json</a:t>
            </a:r>
          </a:p>
        </p:txBody>
      </p:sp>
      <p:sp>
        <p:nvSpPr>
          <p:cNvPr id="8" name="Rounded Rectangle 7"/>
          <p:cNvSpPr/>
          <p:nvPr/>
        </p:nvSpPr>
        <p:spPr>
          <a:xfrm>
            <a:off x="8534095" y="384048"/>
            <a:ext cx="3017520" cy="384048"/>
          </a:xfrm>
          <a:prstGeom prst="roundRect">
            <a:avLst>
              <a:gd name="adj" fmla="val 30000"/>
            </a:avLst>
          </a:prstGeom>
          <a:solidFill>
            <a:srgbClr val="C8492F"/>
          </a:solidFill>
          <a:ln>
            <a:noFill/>
          </a:ln>
        </p:spPr>
        <p:txBody>
          <a:bodyPr rtlCol="0" anchor="ctr" tIns="0" bIns="0"/>
          <a:lstStyle/>
          <a:p>
            <a:pPr algn="ctr"/>
            <a:r>
              <a:rPr sz="1200" b="1">
                <a:solidFill>
                  <a:srgbClr val="FFFFFF"/>
                </a:solidFill>
                <a:latin typeface="Arial"/>
              </a:rPr>
              <a:t>DRAFT: placeholder numbers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237744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ClinicalTrials.gov</a:t>
            </a:r>
          </a:p>
          <a:p>
            <a:pPr algn="ctr"/>
            <a:r>
              <a:rPr sz="1200" b="0">
                <a:solidFill>
                  <a:srgbClr val="1B2A30"/>
                </a:solidFill>
                <a:latin typeface="Arial"/>
              </a:rPr>
              <a:t>+ version history</a:t>
            </a:r>
          </a:p>
        </p:txBody>
      </p:sp>
      <p:sp>
        <p:nvSpPr>
          <p:cNvPr id="3" name="Rounded Rectangle 2"/>
          <p:cNvSpPr/>
          <p:nvPr/>
        </p:nvSpPr>
        <p:spPr>
          <a:xfrm>
            <a:off x="2880360" y="237744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Ingest + labels</a:t>
            </a:r>
          </a:p>
        </p:txBody>
      </p:sp>
      <p:sp>
        <p:nvSpPr>
          <p:cNvPr id="4" name="Rounded Rectangle 3"/>
          <p:cNvSpPr/>
          <p:nvPr/>
        </p:nvSpPr>
        <p:spPr>
          <a:xfrm>
            <a:off x="5120640" y="237744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Criteria parser</a:t>
            </a:r>
          </a:p>
          <a:p>
            <a:pPr algn="ctr"/>
            <a:r>
              <a:rPr sz="1200" b="0">
                <a:solidFill>
                  <a:srgbClr val="1B2A30"/>
                </a:solidFill>
                <a:latin typeface="Arial"/>
              </a:rPr>
              <a:t>(Gemini)</a:t>
            </a:r>
          </a:p>
        </p:txBody>
      </p:sp>
      <p:sp>
        <p:nvSpPr>
          <p:cNvPr id="5" name="Rounded Rectangle 4"/>
          <p:cNvSpPr/>
          <p:nvPr/>
        </p:nvSpPr>
        <p:spPr>
          <a:xfrm>
            <a:off x="7360919" y="237744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Cohort + code</a:t>
            </a:r>
          </a:p>
          <a:p>
            <a:pPr algn="ctr"/>
            <a:r>
              <a:rPr sz="1200" b="0">
                <a:solidFill>
                  <a:srgbClr val="1B2A30"/>
                </a:solidFill>
                <a:latin typeface="Arial"/>
              </a:rPr>
              <a:t>screen</a:t>
            </a:r>
          </a:p>
        </p:txBody>
      </p:sp>
      <p:sp>
        <p:nvSpPr>
          <p:cNvPr id="6" name="Rounded Rectangle 5"/>
          <p:cNvSpPr/>
          <p:nvPr/>
        </p:nvSpPr>
        <p:spPr>
          <a:xfrm>
            <a:off x="9601200" y="237744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Persona agents</a:t>
            </a:r>
          </a:p>
          <a:p>
            <a:pPr algn="ctr"/>
            <a:r>
              <a:rPr sz="1200" b="0">
                <a:solidFill>
                  <a:srgbClr val="1B2A30"/>
                </a:solidFill>
                <a:latin typeface="Arial"/>
              </a:rPr>
              <a:t>(Gemini)</a:t>
            </a:r>
          </a:p>
        </p:txBody>
      </p:sp>
      <p:sp>
        <p:nvSpPr>
          <p:cNvPr id="7" name="Rounded Rectangle 6"/>
          <p:cNvSpPr/>
          <p:nvPr/>
        </p:nvSpPr>
        <p:spPr>
          <a:xfrm>
            <a:off x="2880360" y="3794760"/>
            <a:ext cx="1874519" cy="868680"/>
          </a:xfrm>
          <a:prstGeom prst="roundRect">
            <a:avLst>
              <a:gd name="adj" fmla="val 12000"/>
            </a:avLst>
          </a:prstGeom>
          <a:solidFill>
            <a:srgbClr val="0E5E63"/>
          </a:solidFill>
          <a:ln>
            <a:noFill/>
          </a:ln>
        </p:spPr>
        <p:txBody>
          <a:bodyPr rtlCol="0" anchor="ctr" lIns="73152" rIns="73152" wrap="square"/>
          <a:lstStyle/>
          <a:p>
            <a:pPr algn="ctr"/>
            <a:r>
              <a:rPr sz="1400" b="1">
                <a:solidFill>
                  <a:srgbClr val="FFFFFF"/>
                </a:solidFill>
                <a:latin typeface="Arial"/>
              </a:rPr>
              <a:t>Tiger Data</a:t>
            </a:r>
          </a:p>
          <a:p>
            <a:pPr algn="ctr"/>
            <a:r>
              <a:rPr sz="1200" b="0">
                <a:solidFill>
                  <a:srgbClr val="FFFFFF"/>
                </a:solidFill>
                <a:latin typeface="Arial"/>
              </a:rPr>
              <a:t>Postgres + pgvector</a:t>
            </a:r>
          </a:p>
        </p:txBody>
      </p:sp>
      <p:sp>
        <p:nvSpPr>
          <p:cNvPr id="8" name="Rounded Rectangle 7"/>
          <p:cNvSpPr/>
          <p:nvPr/>
        </p:nvSpPr>
        <p:spPr>
          <a:xfrm>
            <a:off x="7360919" y="3794760"/>
            <a:ext cx="1874519" cy="868680"/>
          </a:xfrm>
          <a:prstGeom prst="roundRect">
            <a:avLst>
              <a:gd name="adj" fmla="val 12000"/>
            </a:avLst>
          </a:prstGeom>
          <a:solidFill>
            <a:srgbClr val="0E5E63"/>
          </a:solidFill>
          <a:ln>
            <a:noFill/>
          </a:ln>
        </p:spPr>
        <p:txBody>
          <a:bodyPr rtlCol="0" anchor="ctr" lIns="73152" rIns="73152" wrap="square"/>
          <a:lstStyle/>
          <a:p>
            <a:pPr algn="ctr"/>
            <a:r>
              <a:rPr sz="1400" b="1">
                <a:solidFill>
                  <a:srgbClr val="FFFFFF"/>
                </a:solidFill>
                <a:latin typeface="Arial"/>
              </a:rPr>
              <a:t>LightGBM + SHAP</a:t>
            </a:r>
          </a:p>
          <a:p>
            <a:pPr algn="ctr"/>
            <a:r>
              <a:rPr sz="1200" b="0">
                <a:solidFill>
                  <a:srgbClr val="FFFFFF"/>
                </a:solidFill>
                <a:latin typeface="Arial"/>
              </a:rPr>
              <a:t>calibrated risk</a:t>
            </a:r>
          </a:p>
        </p:txBody>
      </p:sp>
      <p:sp>
        <p:nvSpPr>
          <p:cNvPr id="9" name="Rounded Rectangle 8"/>
          <p:cNvSpPr/>
          <p:nvPr/>
        </p:nvSpPr>
        <p:spPr>
          <a:xfrm>
            <a:off x="9601200" y="379476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Optimizer</a:t>
            </a:r>
          </a:p>
          <a:p>
            <a:pPr algn="ctr"/>
            <a:r>
              <a:rPr sz="1200" b="0">
                <a:solidFill>
                  <a:srgbClr val="1B2A30"/>
                </a:solidFill>
                <a:latin typeface="Arial"/>
              </a:rPr>
              <a:t>NSGA-II</a:t>
            </a:r>
          </a:p>
        </p:txBody>
      </p:sp>
      <p:sp>
        <p:nvSpPr>
          <p:cNvPr id="10" name="Rounded Rectangle 9"/>
          <p:cNvSpPr/>
          <p:nvPr/>
        </p:nvSpPr>
        <p:spPr>
          <a:xfrm>
            <a:off x="5120640" y="379476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Learning loop</a:t>
            </a:r>
          </a:p>
          <a:p>
            <a:pPr algn="ctr"/>
            <a:r>
              <a:rPr sz="1200" b="0">
                <a:solidFill>
                  <a:srgbClr val="1B2A30"/>
                </a:solidFill>
                <a:latin typeface="Arial"/>
              </a:rPr>
              <a:t>ledger + replay</a:t>
            </a:r>
          </a:p>
        </p:txBody>
      </p:sp>
      <p:sp>
        <p:nvSpPr>
          <p:cNvPr id="11" name="Rounded Rectangle 10"/>
          <p:cNvSpPr/>
          <p:nvPr/>
        </p:nvSpPr>
        <p:spPr>
          <a:xfrm>
            <a:off x="9601200" y="5212080"/>
            <a:ext cx="1874519" cy="868680"/>
          </a:xfrm>
          <a:prstGeom prst="roundRect">
            <a:avLst>
              <a:gd name="adj" fmla="val 12000"/>
            </a:avLst>
          </a:prstGeom>
          <a:solidFill>
            <a:srgbClr val="E9F2F2"/>
          </a:solidFill>
          <a:ln>
            <a:noFill/>
          </a:ln>
        </p:spPr>
        <p:txBody>
          <a:bodyPr rtlCol="0" anchor="ctr" lIns="73152" rIns="73152" wrap="square"/>
          <a:lstStyle/>
          <a:p>
            <a:pPr algn="ctr"/>
            <a:r>
              <a:rPr sz="1400" b="1">
                <a:solidFill>
                  <a:srgbClr val="1B2A30"/>
                </a:solidFill>
                <a:latin typeface="Arial"/>
              </a:rPr>
              <a:t>FastAPI +</a:t>
            </a:r>
          </a:p>
          <a:p>
            <a:pPr algn="ctr"/>
            <a:r>
              <a:rPr sz="1200" b="0">
                <a:solidFill>
                  <a:srgbClr val="1B2A30"/>
                </a:solidFill>
                <a:latin typeface="Arial"/>
              </a:rPr>
              <a:t>Streamlit app</a:t>
            </a:r>
          </a:p>
        </p:txBody>
      </p:sp>
      <p:cxnSp>
        <p:nvCxnSpPr>
          <p:cNvPr id="12" name="Connector 11"/>
          <p:cNvCxnSpPr/>
          <p:nvPr/>
        </p:nvCxnSpPr>
        <p:spPr>
          <a:xfrm>
            <a:off x="2551176" y="2811780"/>
            <a:ext cx="292608"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91456" y="2811780"/>
            <a:ext cx="292608"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31736" y="2811780"/>
            <a:ext cx="292608"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272015" y="2811780"/>
            <a:ext cx="292609"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817620" y="3282696"/>
            <a:ext cx="0" cy="475488"/>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298179" y="3282696"/>
            <a:ext cx="0" cy="475488"/>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38460" y="3282696"/>
            <a:ext cx="0" cy="475488"/>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9272015" y="4229100"/>
            <a:ext cx="292609"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7031736" y="4229100"/>
            <a:ext cx="292608"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791456" y="4229100"/>
            <a:ext cx="292608" cy="0"/>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538460" y="4700016"/>
            <a:ext cx="0" cy="475488"/>
          </a:xfrm>
          <a:prstGeom prst="line">
            <a:avLst/>
          </a:prstGeom>
          <a:ln w="25400">
            <a:solidFill>
              <a:srgbClr val="2E8A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5349240"/>
            <a:ext cx="7680960" cy="822960"/>
          </a:xfrm>
          <a:prstGeom prst="rect">
            <a:avLst/>
          </a:prstGeom>
          <a:noFill/>
        </p:spPr>
        <p:txBody>
          <a:bodyPr wrap="square" lIns="0" rIns="0" tIns="0" bIns="0" anchor="t"/>
          <a:lstStyle/>
          <a:p>
            <a:pPr algn="l">
              <a:lnSpc>
                <a:spcPct val="115000"/>
              </a:lnSpc>
              <a:spcAft>
                <a:spcPts val="0"/>
              </a:spcAft>
            </a:pPr>
            <a:r>
              <a:rPr sz="1600" b="1" i="0">
                <a:solidFill>
                  <a:srgbClr val="1B2A30"/>
                </a:solidFill>
                <a:latin typeface="Arial"/>
              </a:rPr>
              <a:t>Built by AI agents: </a:t>
            </a:r>
            <a:r>
              <a:rPr sz="1600" b="0" i="0">
                <a:solidFill>
                  <a:srgbClr val="1B2A30"/>
                </a:solidFill>
                <a:latin typeface="Arial"/>
              </a:rPr>
              <a:t>four orchestrators across two model families ran 27 task prompts, coordinated by git tags and reviewing each other's work</a:t>
            </a:r>
          </a:p>
        </p:txBody>
      </p:sp>
      <p:sp>
        <p:nvSpPr>
          <p:cNvPr id="24" name="TextBox 23"/>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ARCHITECTURE</a:t>
            </a:r>
          </a:p>
        </p:txBody>
      </p:sp>
      <p:sp>
        <p:nvSpPr>
          <p:cNvPr id="25"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Small, tested modules around one Tiger Data store, built entirely by AI agents</a:t>
            </a:r>
          </a:p>
        </p:txBody>
      </p:sp>
      <p:sp>
        <p:nvSpPr>
          <p:cNvPr id="26" name="TextBox 25"/>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8 / 12</a:t>
            </a:r>
          </a:p>
        </p:txBody>
      </p:sp>
      <p:sp>
        <p:nvSpPr>
          <p:cNvPr id="27" name="TextBox 26"/>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docs/ARCHITECTURE.md, orchestration/tasks/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uc_vs_baseline.png"/>
          <p:cNvPicPr>
            <a:picLocks noChangeAspect="1"/>
          </p:cNvPicPr>
          <p:nvPr/>
        </p:nvPicPr>
        <p:blipFill>
          <a:blip r:embed="rId2"/>
          <a:stretch>
            <a:fillRect/>
          </a:stretch>
        </p:blipFill>
        <p:spPr>
          <a:xfrm>
            <a:off x="1144792" y="2148840"/>
            <a:ext cx="4934174" cy="2926080"/>
          </a:xfrm>
          <a:prstGeom prst="rect">
            <a:avLst/>
          </a:prstGeom>
        </p:spPr>
      </p:pic>
      <p:pic>
        <p:nvPicPr>
          <p:cNvPr id="3" name="Picture 2" descr="hit_rate.png"/>
          <p:cNvPicPr>
            <a:picLocks noChangeAspect="1"/>
          </p:cNvPicPr>
          <p:nvPr/>
        </p:nvPicPr>
        <p:blipFill>
          <a:blip r:embed="rId3"/>
          <a:stretch>
            <a:fillRect/>
          </a:stretch>
        </p:blipFill>
        <p:spPr>
          <a:xfrm>
            <a:off x="6955582" y="2148840"/>
            <a:ext cx="4452730" cy="2926080"/>
          </a:xfrm>
          <a:prstGeom prst="rect">
            <a:avLst/>
          </a:prstGeom>
        </p:spPr>
      </p:pic>
      <p:sp>
        <p:nvSpPr>
          <p:cNvPr id="4" name="TextBox 3"/>
          <p:cNvSpPr txBox="1"/>
          <p:nvPr/>
        </p:nvSpPr>
        <p:spPr>
          <a:xfrm>
            <a:off x="640080" y="5257800"/>
            <a:ext cx="10911535" cy="1463040"/>
          </a:xfrm>
          <a:prstGeom prst="rect">
            <a:avLst/>
          </a:prstGeom>
          <a:noFill/>
        </p:spPr>
        <p:txBody>
          <a:bodyPr wrap="square" lIns="0" rIns="0" tIns="0" bIns="0" anchor="t"/>
          <a:lstStyle/>
          <a:p>
            <a:pPr algn="l" marL="223520" indent="-223520">
              <a:lnSpc>
                <a:spcPct val="110000"/>
              </a:lnSpc>
              <a:spcAft>
                <a:spcPts val="1200"/>
              </a:spcAft>
              <a:buClr>
                <a:srgbClr val="2E8A8F"/>
              </a:buClr>
              <a:buSzPct val="100000"/>
              <a:buFont typeface="Arial"/>
              <a:buChar char="•"/>
            </a:pPr>
            <a:r>
              <a:rPr sz="1600" b="0" i="0">
                <a:solidFill>
                  <a:srgbClr val="1B2A30"/>
                </a:solidFill>
                <a:latin typeface="Arial"/>
              </a:rPr>
              <a:t>Accrual failure: AUC [TBD: metrics.json accrual_fail AUC] (95% CI ) vs baseline [TBD: metrics.json accrual_fail AUC baseline] ()</a:t>
            </a:r>
          </a:p>
          <a:p>
            <a:pPr algn="l" marL="223520" indent="-223520">
              <a:lnSpc>
                <a:spcPct val="110000"/>
              </a:lnSpc>
              <a:spcAft>
                <a:spcPts val="1200"/>
              </a:spcAft>
              <a:buClr>
                <a:srgbClr val="2E8A8F"/>
              </a:buClr>
              <a:buSzPct val="100000"/>
              <a:buFont typeface="Arial"/>
              <a:buChar char="•"/>
            </a:pPr>
            <a:r>
              <a:rPr sz="1600" b="0" i="0">
                <a:solidFill>
                  <a:srgbClr val="1B2A30"/>
                </a:solidFill>
                <a:latin typeface="Arial"/>
              </a:rPr>
              <a:t>Hit rate: [TBD: metrics.json hit_rate] (random [TBD: metrics.json hit_rate random], largest exclusion [TBD: metrics.json hit_rate marginal])</a:t>
            </a:r>
          </a:p>
          <a:p>
            <a:pPr algn="l" marL="223520" indent="-223520">
              <a:lnSpc>
                <a:spcPct val="110000"/>
              </a:lnSpc>
              <a:spcAft>
                <a:spcPts val="1200"/>
              </a:spcAft>
              <a:buClr>
                <a:srgbClr val="2E8A8F"/>
              </a:buClr>
              <a:buSzPct val="100000"/>
              <a:buFont typeface="Arial"/>
              <a:buChar char="•"/>
            </a:pPr>
            <a:r>
              <a:rPr sz="1600" b="0" i="0">
                <a:solidFill>
                  <a:srgbClr val="1B2A30"/>
                </a:solidFill>
                <a:latin typeface="Arial"/>
              </a:rPr>
              <a:t>Simulation ablation: [TBD: metrics.json ablation diff]</a:t>
            </a:r>
          </a:p>
        </p:txBody>
      </p:sp>
      <p:sp>
        <p:nvSpPr>
          <p:cNvPr id="5" name="TextBox 4"/>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VALIDATION ON TRIALS THE MODEL NEVER SAW</a:t>
            </a:r>
          </a:p>
        </p:txBody>
      </p:sp>
      <p:sp>
        <p:nvSpPr>
          <p:cNvPr id="6"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On unseen trials, Clinova's accrual-failure AUC is [TBD: metrics.json accrual_fail AUC] vs [TBD: metrics.json accrual_fail AUC baseline] for a baseline</a:t>
            </a:r>
          </a:p>
        </p:txBody>
      </p:sp>
      <p:sp>
        <p:nvSpPr>
          <p:cNvPr id="7" name="TextBox 6"/>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9 / 12</a:t>
            </a:r>
          </a:p>
        </p:txBody>
      </p:sp>
      <p:sp>
        <p:nvSpPr>
          <p:cNvPr id="8" name="TextBox 7"/>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docs/metrics.json</a:t>
            </a:r>
          </a:p>
        </p:txBody>
      </p:sp>
      <p:sp>
        <p:nvSpPr>
          <p:cNvPr id="9" name="Rounded Rectangle 8"/>
          <p:cNvSpPr/>
          <p:nvPr/>
        </p:nvSpPr>
        <p:spPr>
          <a:xfrm>
            <a:off x="8534095" y="384048"/>
            <a:ext cx="3017520" cy="384048"/>
          </a:xfrm>
          <a:prstGeom prst="roundRect">
            <a:avLst>
              <a:gd name="adj" fmla="val 30000"/>
            </a:avLst>
          </a:prstGeom>
          <a:solidFill>
            <a:srgbClr val="C8492F"/>
          </a:solidFill>
          <a:ln>
            <a:noFill/>
          </a:ln>
        </p:spPr>
        <p:txBody>
          <a:bodyPr rtlCol="0" anchor="ctr" tIns="0" bIns="0"/>
          <a:lstStyle/>
          <a:p>
            <a:pPr algn="ctr"/>
            <a:r>
              <a:rPr sz="1200" b="1">
                <a:solidFill>
                  <a:srgbClr val="FFFFFF"/>
                </a:solidFill>
                <a:latin typeface="Arial"/>
              </a:rPr>
              <a:t>DRAFT: placeholder numbers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eplay_brier.png"/>
          <p:cNvPicPr>
            <a:picLocks noChangeAspect="1"/>
          </p:cNvPicPr>
          <p:nvPr/>
        </p:nvPicPr>
        <p:blipFill>
          <a:blip r:embed="rId2"/>
          <a:stretch>
            <a:fillRect/>
          </a:stretch>
        </p:blipFill>
        <p:spPr>
          <a:xfrm>
            <a:off x="640080" y="2263140"/>
            <a:ext cx="6949440" cy="3474720"/>
          </a:xfrm>
          <a:prstGeom prst="rect">
            <a:avLst/>
          </a:prstGeom>
        </p:spPr>
      </p:pic>
      <p:sp>
        <p:nvSpPr>
          <p:cNvPr id="3" name="TextBox 2"/>
          <p:cNvSpPr txBox="1"/>
          <p:nvPr/>
        </p:nvSpPr>
        <p:spPr>
          <a:xfrm>
            <a:off x="8000999" y="2377440"/>
            <a:ext cx="3550615" cy="2194560"/>
          </a:xfrm>
          <a:prstGeom prst="rect">
            <a:avLst/>
          </a:prstGeom>
          <a:noFill/>
        </p:spPr>
        <p:txBody>
          <a:bodyPr wrap="square" lIns="0" rIns="0" tIns="0" bIns="0" anchor="t"/>
          <a:lstStyle/>
          <a:p>
            <a:pPr algn="l" marL="237490" indent="-237490">
              <a:lnSpc>
                <a:spcPct val="110000"/>
              </a:lnSpc>
              <a:spcAft>
                <a:spcPts val="1275"/>
              </a:spcAft>
              <a:buClr>
                <a:srgbClr val="2E8A8F"/>
              </a:buClr>
              <a:buSzPct val="100000"/>
              <a:buFont typeface="Arial"/>
              <a:buChar char="•"/>
            </a:pPr>
            <a:r>
              <a:rPr sz="1700" b="0" i="0">
                <a:solidFill>
                  <a:srgbClr val="1B2A30"/>
                </a:solidFill>
                <a:latin typeface="Arial"/>
              </a:rPr>
              <a:t>Replay [TBD: first month] to [TBD: last month]: score each month, then learn its outcomes</a:t>
            </a:r>
          </a:p>
          <a:p>
            <a:pPr algn="l" marL="237490" indent="-237490">
              <a:lnSpc>
                <a:spcPct val="110000"/>
              </a:lnSpc>
              <a:spcAft>
                <a:spcPts val="1275"/>
              </a:spcAft>
              <a:buClr>
                <a:srgbClr val="2E8A8F"/>
              </a:buClr>
              <a:buSzPct val="100000"/>
              <a:buFont typeface="Arial"/>
              <a:buChar char="•"/>
            </a:pPr>
            <a:r>
              <a:rPr sz="1700" b="0" i="0">
                <a:solidFill>
                  <a:srgbClr val="1B2A30"/>
                </a:solidFill>
                <a:latin typeface="Arial"/>
              </a:rPr>
              <a:t>Pooled Brier over [TBD: replay.json windows] scored windows: retrained [TBD: replay.json retrained Brier], frozen [TBD: replay.json frozen Brier]</a:t>
            </a:r>
          </a:p>
          <a:p>
            <a:pPr algn="l" marL="237490" indent="-237490">
              <a:lnSpc>
                <a:spcPct val="110000"/>
              </a:lnSpc>
              <a:spcAft>
                <a:spcPts val="1275"/>
              </a:spcAft>
              <a:buClr>
                <a:srgbClr val="2E8A8F"/>
              </a:buClr>
              <a:buSzPct val="100000"/>
              <a:buFont typeface="Arial"/>
              <a:buChar char="•"/>
            </a:pPr>
            <a:r>
              <a:rPr sz="1700" b="0" i="0">
                <a:solidFill>
                  <a:srgbClr val="1B2A30"/>
                </a:solidFill>
                <a:latin typeface="Arial"/>
              </a:rPr>
              <a:t>Every live prediction is logged in Tiger Data and scored when the trial ends</a:t>
            </a:r>
          </a:p>
        </p:txBody>
      </p:sp>
      <p:sp>
        <p:nvSpPr>
          <p:cNvPr id="4" name="TextBox 3"/>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LEARNING LOOP</a:t>
            </a:r>
          </a:p>
        </p:txBody>
      </p:sp>
      <p:sp>
        <p:nvSpPr>
          <p:cNvPr id="5"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The learning loop grades every prediction; retrained Brier [TBD: replay.json retrained Brier] vs frozen [TBD: replay.json frozen Brier]</a:t>
            </a:r>
          </a:p>
        </p:txBody>
      </p:sp>
      <p:sp>
        <p:nvSpPr>
          <p:cNvPr id="6" name="TextBox 5"/>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10 / 12</a:t>
            </a:r>
          </a:p>
        </p:txBody>
      </p:sp>
      <p:sp>
        <p:nvSpPr>
          <p:cNvPr id="7" name="TextBox 6"/>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docs/replay.json</a:t>
            </a:r>
          </a:p>
        </p:txBody>
      </p:sp>
      <p:sp>
        <p:nvSpPr>
          <p:cNvPr id="8" name="Rounded Rectangle 7"/>
          <p:cNvSpPr/>
          <p:nvPr/>
        </p:nvSpPr>
        <p:spPr>
          <a:xfrm>
            <a:off x="8534095" y="384048"/>
            <a:ext cx="3017520" cy="384048"/>
          </a:xfrm>
          <a:prstGeom prst="roundRect">
            <a:avLst>
              <a:gd name="adj" fmla="val 30000"/>
            </a:avLst>
          </a:prstGeom>
          <a:solidFill>
            <a:srgbClr val="C8492F"/>
          </a:solidFill>
          <a:ln>
            <a:noFill/>
          </a:ln>
        </p:spPr>
        <p:txBody>
          <a:bodyPr rtlCol="0" anchor="ctr" tIns="0" bIns="0"/>
          <a:lstStyle/>
          <a:p>
            <a:pPr algn="ctr"/>
            <a:r>
              <a:rPr sz="1200" b="1">
                <a:solidFill>
                  <a:srgbClr val="FFFFFF"/>
                </a:solidFill>
                <a:latin typeface="Arial"/>
              </a:rPr>
              <a:t>DRAFT: placeholder numbers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40080" y="2286000"/>
            <a:ext cx="5318607" cy="1371600"/>
          </a:xfrm>
          <a:prstGeom prst="roundRect">
            <a:avLst>
              <a:gd name="adj" fmla="val 8000"/>
            </a:avLst>
          </a:prstGeom>
          <a:solidFill>
            <a:srgbClr val="E9F2F2"/>
          </a:solidFill>
          <a:ln>
            <a:noFill/>
          </a:ln>
        </p:spPr>
        <p:txBody>
          <a:bodyPr rtlCol="0" anchor="ctr"/>
          <a:lstStyle/>
          <a:p>
            <a:pPr algn="ctr"/>
          </a:p>
        </p:txBody>
      </p:sp>
      <p:sp>
        <p:nvSpPr>
          <p:cNvPr id="3" name="TextBox 2"/>
          <p:cNvSpPr txBox="1"/>
          <p:nvPr/>
        </p:nvSpPr>
        <p:spPr>
          <a:xfrm>
            <a:off x="960119" y="2514600"/>
            <a:ext cx="4678527" cy="411480"/>
          </a:xfrm>
          <a:prstGeom prst="rect">
            <a:avLst/>
          </a:prstGeom>
          <a:noFill/>
        </p:spPr>
        <p:txBody>
          <a:bodyPr wrap="square" lIns="0" rIns="0" tIns="0" bIns="0" anchor="t"/>
          <a:lstStyle/>
          <a:p>
            <a:pPr algn="l">
              <a:lnSpc>
                <a:spcPct val="110000"/>
              </a:lnSpc>
              <a:spcAft>
                <a:spcPts val="0"/>
              </a:spcAft>
            </a:pPr>
            <a:r>
              <a:rPr sz="1900" b="1" i="0">
                <a:solidFill>
                  <a:srgbClr val="1B2A30"/>
                </a:solidFill>
                <a:latin typeface="Arial"/>
              </a:rPr>
              <a:t>Registry edits are a proxy</a:t>
            </a:r>
          </a:p>
        </p:txBody>
      </p:sp>
      <p:sp>
        <p:nvSpPr>
          <p:cNvPr id="4" name="TextBox 3"/>
          <p:cNvSpPr txBox="1"/>
          <p:nvPr/>
        </p:nvSpPr>
        <p:spPr>
          <a:xfrm>
            <a:off x="960119" y="2944368"/>
            <a:ext cx="4678527" cy="640080"/>
          </a:xfrm>
          <a:prstGeom prst="rect">
            <a:avLst/>
          </a:prstGeom>
          <a:noFill/>
        </p:spPr>
        <p:txBody>
          <a:bodyPr wrap="square" lIns="0" rIns="0" tIns="0" bIns="0" anchor="t"/>
          <a:lstStyle/>
          <a:p>
            <a:pPr algn="l">
              <a:lnSpc>
                <a:spcPct val="110000"/>
              </a:lnSpc>
              <a:spcAft>
                <a:spcPts val="0"/>
              </a:spcAft>
            </a:pPr>
            <a:r>
              <a:rPr sz="1500" b="0" i="0">
                <a:solidFill>
                  <a:srgbClr val="5C6A70"/>
                </a:solidFill>
                <a:latin typeface="Arial"/>
              </a:rPr>
              <a:t>A widened rule on ClinicalTrials.gov is public evidence of an amendment, not the same thing</a:t>
            </a:r>
          </a:p>
        </p:txBody>
      </p:sp>
      <p:sp>
        <p:nvSpPr>
          <p:cNvPr id="5" name="Rounded Rectangle 4"/>
          <p:cNvSpPr/>
          <p:nvPr/>
        </p:nvSpPr>
        <p:spPr>
          <a:xfrm>
            <a:off x="6233007" y="2286000"/>
            <a:ext cx="5318607" cy="1371600"/>
          </a:xfrm>
          <a:prstGeom prst="roundRect">
            <a:avLst>
              <a:gd name="adj" fmla="val 8000"/>
            </a:avLst>
          </a:prstGeom>
          <a:solidFill>
            <a:srgbClr val="E9F2F2"/>
          </a:solidFill>
          <a:ln>
            <a:noFill/>
          </a:ln>
        </p:spPr>
        <p:txBody>
          <a:bodyPr rtlCol="0" anchor="ctr"/>
          <a:lstStyle/>
          <a:p>
            <a:pPr algn="ctr"/>
          </a:p>
        </p:txBody>
      </p:sp>
      <p:sp>
        <p:nvSpPr>
          <p:cNvPr id="6" name="TextBox 5"/>
          <p:cNvSpPr txBox="1"/>
          <p:nvPr/>
        </p:nvSpPr>
        <p:spPr>
          <a:xfrm>
            <a:off x="6553047" y="2514600"/>
            <a:ext cx="4678527" cy="411480"/>
          </a:xfrm>
          <a:prstGeom prst="rect">
            <a:avLst/>
          </a:prstGeom>
          <a:noFill/>
        </p:spPr>
        <p:txBody>
          <a:bodyPr wrap="square" lIns="0" rIns="0" tIns="0" bIns="0" anchor="t"/>
          <a:lstStyle/>
          <a:p>
            <a:pPr algn="l">
              <a:lnSpc>
                <a:spcPct val="110000"/>
              </a:lnSpc>
              <a:spcAft>
                <a:spcPts val="0"/>
              </a:spcAft>
            </a:pPr>
            <a:r>
              <a:rPr sz="1900" b="1" i="0">
                <a:solidFill>
                  <a:srgbClr val="1B2A30"/>
                </a:solidFill>
                <a:latin typeface="Arial"/>
              </a:rPr>
              <a:t>Stop reasons are free text</a:t>
            </a:r>
          </a:p>
        </p:txBody>
      </p:sp>
      <p:sp>
        <p:nvSpPr>
          <p:cNvPr id="7" name="TextBox 6"/>
          <p:cNvSpPr txBox="1"/>
          <p:nvPr/>
        </p:nvSpPr>
        <p:spPr>
          <a:xfrm>
            <a:off x="6553047" y="2944368"/>
            <a:ext cx="4678527" cy="640080"/>
          </a:xfrm>
          <a:prstGeom prst="rect">
            <a:avLst/>
          </a:prstGeom>
          <a:noFill/>
        </p:spPr>
        <p:txBody>
          <a:bodyPr wrap="square" lIns="0" rIns="0" tIns="0" bIns="0" anchor="t"/>
          <a:lstStyle/>
          <a:p>
            <a:pPr algn="l">
              <a:lnSpc>
                <a:spcPct val="110000"/>
              </a:lnSpc>
              <a:spcAft>
                <a:spcPts val="0"/>
              </a:spcAft>
            </a:pPr>
            <a:r>
              <a:rPr sz="1500" b="0" i="0">
                <a:solidFill>
                  <a:srgbClr val="5C6A70"/>
                </a:solidFill>
                <a:latin typeface="Arial"/>
              </a:rPr>
              <a:t>Some terminations are business decisions; labels were spot-checked by a second model</a:t>
            </a:r>
          </a:p>
        </p:txBody>
      </p:sp>
      <p:sp>
        <p:nvSpPr>
          <p:cNvPr id="8" name="Rounded Rectangle 7"/>
          <p:cNvSpPr/>
          <p:nvPr/>
        </p:nvSpPr>
        <p:spPr>
          <a:xfrm>
            <a:off x="640080" y="3886200"/>
            <a:ext cx="5318607" cy="1371600"/>
          </a:xfrm>
          <a:prstGeom prst="roundRect">
            <a:avLst>
              <a:gd name="adj" fmla="val 8000"/>
            </a:avLst>
          </a:prstGeom>
          <a:solidFill>
            <a:srgbClr val="E9F2F2"/>
          </a:solidFill>
          <a:ln>
            <a:noFill/>
          </a:ln>
        </p:spPr>
        <p:txBody>
          <a:bodyPr rtlCol="0" anchor="ctr"/>
          <a:lstStyle/>
          <a:p>
            <a:pPr algn="ctr"/>
          </a:p>
        </p:txBody>
      </p:sp>
      <p:sp>
        <p:nvSpPr>
          <p:cNvPr id="9" name="TextBox 8"/>
          <p:cNvSpPr txBox="1"/>
          <p:nvPr/>
        </p:nvSpPr>
        <p:spPr>
          <a:xfrm>
            <a:off x="960119" y="4114800"/>
            <a:ext cx="4678527" cy="411480"/>
          </a:xfrm>
          <a:prstGeom prst="rect">
            <a:avLst/>
          </a:prstGeom>
          <a:noFill/>
        </p:spPr>
        <p:txBody>
          <a:bodyPr wrap="square" lIns="0" rIns="0" tIns="0" bIns="0" anchor="t"/>
          <a:lstStyle/>
          <a:p>
            <a:pPr algn="l">
              <a:lnSpc>
                <a:spcPct val="110000"/>
              </a:lnSpc>
              <a:spcAft>
                <a:spcPts val="0"/>
              </a:spcAft>
            </a:pPr>
            <a:r>
              <a:rPr sz="1900" b="1" i="0">
                <a:solidFill>
                  <a:srgbClr val="1B2A30"/>
                </a:solidFill>
                <a:latin typeface="Arial"/>
              </a:rPr>
              <a:t>Personas are synthetic</a:t>
            </a:r>
          </a:p>
        </p:txBody>
      </p:sp>
      <p:sp>
        <p:nvSpPr>
          <p:cNvPr id="10" name="TextBox 9"/>
          <p:cNvSpPr txBox="1"/>
          <p:nvPr/>
        </p:nvSpPr>
        <p:spPr>
          <a:xfrm>
            <a:off x="960119" y="4544568"/>
            <a:ext cx="4678527" cy="640080"/>
          </a:xfrm>
          <a:prstGeom prst="rect">
            <a:avLst/>
          </a:prstGeom>
          <a:noFill/>
        </p:spPr>
        <p:txBody>
          <a:bodyPr wrap="square" lIns="0" rIns="0" tIns="0" bIns="0" anchor="t"/>
          <a:lstStyle/>
          <a:p>
            <a:pPr algn="l">
              <a:lnSpc>
                <a:spcPct val="110000"/>
              </a:lnSpc>
              <a:spcAft>
                <a:spcPts val="0"/>
              </a:spcAft>
            </a:pPr>
            <a:r>
              <a:rPr sz="1500" b="0" i="0">
                <a:solidFill>
                  <a:srgbClr val="5C6A70"/>
                </a:solidFill>
                <a:latin typeface="Arial"/>
              </a:rPr>
              <a:t>General-population records with clinical traits from published distributions, labelled as assumptions</a:t>
            </a:r>
          </a:p>
        </p:txBody>
      </p:sp>
      <p:sp>
        <p:nvSpPr>
          <p:cNvPr id="11" name="Rounded Rectangle 10"/>
          <p:cNvSpPr/>
          <p:nvPr/>
        </p:nvSpPr>
        <p:spPr>
          <a:xfrm>
            <a:off x="6233007" y="3886200"/>
            <a:ext cx="5318607" cy="1371600"/>
          </a:xfrm>
          <a:prstGeom prst="roundRect">
            <a:avLst>
              <a:gd name="adj" fmla="val 8000"/>
            </a:avLst>
          </a:prstGeom>
          <a:solidFill>
            <a:srgbClr val="E9F2F2"/>
          </a:solidFill>
          <a:ln>
            <a:noFill/>
          </a:ln>
        </p:spPr>
        <p:txBody>
          <a:bodyPr rtlCol="0" anchor="ctr"/>
          <a:lstStyle/>
          <a:p>
            <a:pPr algn="ctr"/>
          </a:p>
        </p:txBody>
      </p:sp>
      <p:sp>
        <p:nvSpPr>
          <p:cNvPr id="12" name="TextBox 11"/>
          <p:cNvSpPr txBox="1"/>
          <p:nvPr/>
        </p:nvSpPr>
        <p:spPr>
          <a:xfrm>
            <a:off x="6553047" y="4114800"/>
            <a:ext cx="4678527" cy="411480"/>
          </a:xfrm>
          <a:prstGeom prst="rect">
            <a:avLst/>
          </a:prstGeom>
          <a:noFill/>
        </p:spPr>
        <p:txBody>
          <a:bodyPr wrap="square" lIns="0" rIns="0" tIns="0" bIns="0" anchor="t"/>
          <a:lstStyle/>
          <a:p>
            <a:pPr algn="l">
              <a:lnSpc>
                <a:spcPct val="110000"/>
              </a:lnSpc>
              <a:spcAft>
                <a:spcPts val="0"/>
              </a:spcAft>
            </a:pPr>
            <a:r>
              <a:rPr sz="1900" b="1" i="0">
                <a:solidFill>
                  <a:srgbClr val="1B2A30"/>
                </a:solidFill>
                <a:latin typeface="Arial"/>
              </a:rPr>
              <a:t>Predictions are correlational</a:t>
            </a:r>
          </a:p>
        </p:txBody>
      </p:sp>
      <p:sp>
        <p:nvSpPr>
          <p:cNvPr id="13" name="TextBox 12"/>
          <p:cNvSpPr txBox="1"/>
          <p:nvPr/>
        </p:nvSpPr>
        <p:spPr>
          <a:xfrm>
            <a:off x="6553047" y="4544568"/>
            <a:ext cx="4678527" cy="640080"/>
          </a:xfrm>
          <a:prstGeom prst="rect">
            <a:avLst/>
          </a:prstGeom>
          <a:noFill/>
        </p:spPr>
        <p:txBody>
          <a:bodyPr wrap="square" lIns="0" rIns="0" tIns="0" bIns="0" anchor="t"/>
          <a:lstStyle/>
          <a:p>
            <a:pPr algn="l">
              <a:lnSpc>
                <a:spcPct val="110000"/>
              </a:lnSpc>
              <a:spcAft>
                <a:spcPts val="0"/>
              </a:spcAft>
            </a:pPr>
            <a:r>
              <a:rPr sz="1500" b="0" i="0">
                <a:solidFill>
                  <a:srgbClr val="5C6A70"/>
                </a:solidFill>
                <a:latin typeface="Arial"/>
              </a:rPr>
              <a:t>Risk scores rank protocols; they do not prove that a rule caused a failure</a:t>
            </a:r>
          </a:p>
        </p:txBody>
      </p:sp>
      <p:sp>
        <p:nvSpPr>
          <p:cNvPr id="14" name="Rounded Rectangle 13"/>
          <p:cNvSpPr/>
          <p:nvPr/>
        </p:nvSpPr>
        <p:spPr>
          <a:xfrm>
            <a:off x="640080" y="5486400"/>
            <a:ext cx="10911535" cy="731520"/>
          </a:xfrm>
          <a:prstGeom prst="roundRect">
            <a:avLst>
              <a:gd name="adj" fmla="val 8000"/>
            </a:avLst>
          </a:prstGeom>
          <a:solidFill>
            <a:srgbClr val="0E5E63"/>
          </a:solidFill>
          <a:ln>
            <a:noFill/>
          </a:ln>
        </p:spPr>
        <p:txBody>
          <a:bodyPr rtlCol="0" anchor="ctr"/>
          <a:lstStyle/>
          <a:p>
            <a:pPr algn="ctr"/>
          </a:p>
        </p:txBody>
      </p:sp>
      <p:sp>
        <p:nvSpPr>
          <p:cNvPr id="15" name="TextBox 14"/>
          <p:cNvSpPr txBox="1"/>
          <p:nvPr/>
        </p:nvSpPr>
        <p:spPr>
          <a:xfrm>
            <a:off x="960119" y="5486400"/>
            <a:ext cx="10271455" cy="731520"/>
          </a:xfrm>
          <a:prstGeom prst="rect">
            <a:avLst/>
          </a:prstGeom>
          <a:noFill/>
        </p:spPr>
        <p:txBody>
          <a:bodyPr wrap="square" lIns="0" rIns="0" tIns="0" bIns="0" anchor="ctr"/>
          <a:lstStyle/>
          <a:p>
            <a:pPr algn="l">
              <a:lnSpc>
                <a:spcPct val="110000"/>
              </a:lnSpc>
              <a:spcAft>
                <a:spcPts val="0"/>
              </a:spcAft>
            </a:pPr>
            <a:r>
              <a:rPr sz="1700" b="1" i="0">
                <a:solidFill>
                  <a:srgbClr val="FFFFFF"/>
                </a:solidFill>
                <a:latin typeface="Arial"/>
              </a:rPr>
              <a:t>Clinova advises; the author decides. No real patient data. Every decision is logged.</a:t>
            </a:r>
          </a:p>
        </p:txBody>
      </p:sp>
      <p:sp>
        <p:nvSpPr>
          <p:cNvPr id="16" name="TextBox 15"/>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2E8A8F"/>
                </a:solidFill>
                <a:latin typeface="Arial"/>
              </a:rPr>
              <a:t>LIMITATIONS AND RESPONSIBLE USE</a:t>
            </a:r>
          </a:p>
        </p:txBody>
      </p:sp>
      <p:sp>
        <p:nvSpPr>
          <p:cNvPr id="17"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1B2A30"/>
                </a:solidFill>
                <a:latin typeface="Arial"/>
              </a:rPr>
              <a:t>We show what the evidence can and cannot support</a:t>
            </a:r>
          </a:p>
        </p:txBody>
      </p:sp>
      <p:sp>
        <p:nvSpPr>
          <p:cNvPr id="18" name="TextBox 17"/>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A9B4B8"/>
                </a:solidFill>
                <a:latin typeface="Arial"/>
              </a:rPr>
              <a:t>11 / 12</a:t>
            </a:r>
          </a:p>
        </p:txBody>
      </p:sp>
      <p:sp>
        <p:nvSpPr>
          <p:cNvPr id="19" name="TextBox 18"/>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A9B4B8"/>
                </a:solidFill>
                <a:latin typeface="Arial"/>
              </a:rPr>
              <a:t>Sources: docs/ARCHITECTURE.md, docs/metrics.json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3C40"/>
        </a:solidFill>
        <a:effectLst/>
      </p:bgPr>
    </p:bg>
    <p:spTree>
      <p:nvGrpSpPr>
        <p:cNvPr id="1" name=""/>
        <p:cNvGrpSpPr/>
        <p:nvPr/>
      </p:nvGrpSpPr>
      <p:grpSpPr/>
      <p:sp>
        <p:nvSpPr>
          <p:cNvPr id="2" name="Oval 1"/>
          <p:cNvSpPr/>
          <p:nvPr/>
        </p:nvSpPr>
        <p:spPr>
          <a:xfrm>
            <a:off x="640080" y="2286000"/>
            <a:ext cx="438912" cy="438912"/>
          </a:xfrm>
          <a:prstGeom prst="ellipse">
            <a:avLst/>
          </a:prstGeom>
          <a:solidFill>
            <a:srgbClr val="7FC4C7"/>
          </a:solidFill>
          <a:ln>
            <a:noFill/>
          </a:ln>
        </p:spPr>
        <p:txBody>
          <a:bodyPr rtlCol="0" anchor="ctr" lIns="0" rIns="0" tIns="0" bIns="0"/>
          <a:lstStyle/>
          <a:p>
            <a:pPr algn="ctr"/>
            <a:r>
              <a:rPr sz="1500" b="1">
                <a:solidFill>
                  <a:srgbClr val="0B3C40"/>
                </a:solidFill>
                <a:latin typeface="Arial"/>
              </a:rPr>
              <a:t>1</a:t>
            </a:r>
          </a:p>
        </p:txBody>
      </p:sp>
      <p:sp>
        <p:nvSpPr>
          <p:cNvPr id="3" name="TextBox 2"/>
          <p:cNvSpPr txBox="1"/>
          <p:nvPr/>
        </p:nvSpPr>
        <p:spPr>
          <a:xfrm>
            <a:off x="1325880" y="2286000"/>
            <a:ext cx="5760720" cy="438912"/>
          </a:xfrm>
          <a:prstGeom prst="rect">
            <a:avLst/>
          </a:prstGeom>
          <a:noFill/>
        </p:spPr>
        <p:txBody>
          <a:bodyPr wrap="square" lIns="0" rIns="0" tIns="0" bIns="0" anchor="ctr"/>
          <a:lstStyle/>
          <a:p>
            <a:pPr algn="l">
              <a:lnSpc>
                <a:spcPct val="110000"/>
              </a:lnSpc>
              <a:spcAft>
                <a:spcPts val="0"/>
              </a:spcAft>
            </a:pPr>
            <a:r>
              <a:rPr sz="1900" b="0" i="0">
                <a:solidFill>
                  <a:srgbClr val="FFFFFF"/>
                </a:solidFill>
                <a:latin typeface="Arial"/>
              </a:rPr>
              <a:t>Lymphoma, ophthalmology and immunology</a:t>
            </a:r>
          </a:p>
        </p:txBody>
      </p:sp>
      <p:sp>
        <p:nvSpPr>
          <p:cNvPr id="4" name="Oval 3"/>
          <p:cNvSpPr/>
          <p:nvPr/>
        </p:nvSpPr>
        <p:spPr>
          <a:xfrm>
            <a:off x="640080" y="2907792"/>
            <a:ext cx="438912" cy="438912"/>
          </a:xfrm>
          <a:prstGeom prst="ellipse">
            <a:avLst/>
          </a:prstGeom>
          <a:solidFill>
            <a:srgbClr val="7FC4C7"/>
          </a:solidFill>
          <a:ln>
            <a:noFill/>
          </a:ln>
        </p:spPr>
        <p:txBody>
          <a:bodyPr rtlCol="0" anchor="ctr" lIns="0" rIns="0" tIns="0" bIns="0"/>
          <a:lstStyle/>
          <a:p>
            <a:pPr algn="ctr"/>
            <a:r>
              <a:rPr sz="1500" b="1">
                <a:solidFill>
                  <a:srgbClr val="0B3C40"/>
                </a:solidFill>
                <a:latin typeface="Arial"/>
              </a:rPr>
              <a:t>2</a:t>
            </a:r>
          </a:p>
        </p:txBody>
      </p:sp>
      <p:sp>
        <p:nvSpPr>
          <p:cNvPr id="5" name="TextBox 4"/>
          <p:cNvSpPr txBox="1"/>
          <p:nvPr/>
        </p:nvSpPr>
        <p:spPr>
          <a:xfrm>
            <a:off x="1325880" y="2907792"/>
            <a:ext cx="5760720" cy="438912"/>
          </a:xfrm>
          <a:prstGeom prst="rect">
            <a:avLst/>
          </a:prstGeom>
          <a:noFill/>
        </p:spPr>
        <p:txBody>
          <a:bodyPr wrap="square" lIns="0" rIns="0" tIns="0" bIns="0" anchor="ctr"/>
          <a:lstStyle/>
          <a:p>
            <a:pPr algn="l">
              <a:lnSpc>
                <a:spcPct val="110000"/>
              </a:lnSpc>
              <a:spcAft>
                <a:spcPts val="0"/>
              </a:spcAft>
            </a:pPr>
            <a:r>
              <a:rPr sz="1900" b="0" i="0">
                <a:solidFill>
                  <a:srgbClr val="FFFFFF"/>
                </a:solidFill>
                <a:latin typeface="Arial"/>
              </a:rPr>
              <a:t>Site-level enrollment simulation</a:t>
            </a:r>
          </a:p>
        </p:txBody>
      </p:sp>
      <p:sp>
        <p:nvSpPr>
          <p:cNvPr id="6" name="Oval 5"/>
          <p:cNvSpPr/>
          <p:nvPr/>
        </p:nvSpPr>
        <p:spPr>
          <a:xfrm>
            <a:off x="640080" y="3529584"/>
            <a:ext cx="438912" cy="438912"/>
          </a:xfrm>
          <a:prstGeom prst="ellipse">
            <a:avLst/>
          </a:prstGeom>
          <a:solidFill>
            <a:srgbClr val="7FC4C7"/>
          </a:solidFill>
          <a:ln>
            <a:noFill/>
          </a:ln>
        </p:spPr>
        <p:txBody>
          <a:bodyPr rtlCol="0" anchor="ctr" lIns="0" rIns="0" tIns="0" bIns="0"/>
          <a:lstStyle/>
          <a:p>
            <a:pPr algn="ctr"/>
            <a:r>
              <a:rPr sz="1500" b="1">
                <a:solidFill>
                  <a:srgbClr val="0B3C40"/>
                </a:solidFill>
                <a:latin typeface="Arial"/>
              </a:rPr>
              <a:t>3</a:t>
            </a:r>
          </a:p>
        </p:txBody>
      </p:sp>
      <p:sp>
        <p:nvSpPr>
          <p:cNvPr id="7" name="TextBox 6"/>
          <p:cNvSpPr txBox="1"/>
          <p:nvPr/>
        </p:nvSpPr>
        <p:spPr>
          <a:xfrm>
            <a:off x="1325880" y="3529584"/>
            <a:ext cx="5760720" cy="438912"/>
          </a:xfrm>
          <a:prstGeom prst="rect">
            <a:avLst/>
          </a:prstGeom>
          <a:noFill/>
        </p:spPr>
        <p:txBody>
          <a:bodyPr wrap="square" lIns="0" rIns="0" tIns="0" bIns="0" anchor="ctr"/>
          <a:lstStyle/>
          <a:p>
            <a:pPr algn="l">
              <a:lnSpc>
                <a:spcPct val="110000"/>
              </a:lnSpc>
              <a:spcAft>
                <a:spcPts val="0"/>
              </a:spcAft>
            </a:pPr>
            <a:r>
              <a:rPr sz="1900" b="0" i="0">
                <a:solidFill>
                  <a:srgbClr val="FFFFFF"/>
                </a:solidFill>
                <a:latin typeface="Arial"/>
              </a:rPr>
              <a:t>Persona model tuned on expert feedback</a:t>
            </a:r>
          </a:p>
        </p:txBody>
      </p:sp>
      <p:sp>
        <p:nvSpPr>
          <p:cNvPr id="8" name="Oval 7"/>
          <p:cNvSpPr/>
          <p:nvPr/>
        </p:nvSpPr>
        <p:spPr>
          <a:xfrm>
            <a:off x="640080" y="4151376"/>
            <a:ext cx="438912" cy="438912"/>
          </a:xfrm>
          <a:prstGeom prst="ellipse">
            <a:avLst/>
          </a:prstGeom>
          <a:solidFill>
            <a:srgbClr val="7FC4C7"/>
          </a:solidFill>
          <a:ln>
            <a:noFill/>
          </a:ln>
        </p:spPr>
        <p:txBody>
          <a:bodyPr rtlCol="0" anchor="ctr" lIns="0" rIns="0" tIns="0" bIns="0"/>
          <a:lstStyle/>
          <a:p>
            <a:pPr algn="ctr"/>
            <a:r>
              <a:rPr sz="1500" b="1">
                <a:solidFill>
                  <a:srgbClr val="0B3C40"/>
                </a:solidFill>
                <a:latin typeface="Arial"/>
              </a:rPr>
              <a:t>4</a:t>
            </a:r>
          </a:p>
        </p:txBody>
      </p:sp>
      <p:sp>
        <p:nvSpPr>
          <p:cNvPr id="9" name="TextBox 8"/>
          <p:cNvSpPr txBox="1"/>
          <p:nvPr/>
        </p:nvSpPr>
        <p:spPr>
          <a:xfrm>
            <a:off x="1325880" y="4151376"/>
            <a:ext cx="5760720" cy="438912"/>
          </a:xfrm>
          <a:prstGeom prst="rect">
            <a:avLst/>
          </a:prstGeom>
          <a:noFill/>
        </p:spPr>
        <p:txBody>
          <a:bodyPr wrap="square" lIns="0" rIns="0" tIns="0" bIns="0" anchor="ctr"/>
          <a:lstStyle/>
          <a:p>
            <a:pPr algn="l">
              <a:lnSpc>
                <a:spcPct val="110000"/>
              </a:lnSpc>
              <a:spcAft>
                <a:spcPts val="0"/>
              </a:spcAft>
            </a:pPr>
            <a:r>
              <a:rPr sz="1900" b="0" i="0">
                <a:solidFill>
                  <a:srgbClr val="FFFFFF"/>
                </a:solidFill>
                <a:latin typeface="Arial"/>
              </a:rPr>
              <a:t>Structured protocol input (ICH M11)</a:t>
            </a:r>
          </a:p>
        </p:txBody>
      </p:sp>
      <p:sp>
        <p:nvSpPr>
          <p:cNvPr id="10" name="Oval 9"/>
          <p:cNvSpPr/>
          <p:nvPr/>
        </p:nvSpPr>
        <p:spPr>
          <a:xfrm>
            <a:off x="640080" y="4773168"/>
            <a:ext cx="438912" cy="438912"/>
          </a:xfrm>
          <a:prstGeom prst="ellipse">
            <a:avLst/>
          </a:prstGeom>
          <a:solidFill>
            <a:srgbClr val="7FC4C7"/>
          </a:solidFill>
          <a:ln>
            <a:noFill/>
          </a:ln>
        </p:spPr>
        <p:txBody>
          <a:bodyPr rtlCol="0" anchor="ctr" lIns="0" rIns="0" tIns="0" bIns="0"/>
          <a:lstStyle/>
          <a:p>
            <a:pPr algn="ctr"/>
            <a:r>
              <a:rPr sz="1500" b="1">
                <a:solidFill>
                  <a:srgbClr val="0B3C40"/>
                </a:solidFill>
                <a:latin typeface="Arial"/>
              </a:rPr>
              <a:t>5</a:t>
            </a:r>
          </a:p>
        </p:txBody>
      </p:sp>
      <p:sp>
        <p:nvSpPr>
          <p:cNvPr id="11" name="TextBox 10"/>
          <p:cNvSpPr txBox="1"/>
          <p:nvPr/>
        </p:nvSpPr>
        <p:spPr>
          <a:xfrm>
            <a:off x="1325880" y="4773168"/>
            <a:ext cx="5760720" cy="438912"/>
          </a:xfrm>
          <a:prstGeom prst="rect">
            <a:avLst/>
          </a:prstGeom>
          <a:noFill/>
        </p:spPr>
        <p:txBody>
          <a:bodyPr wrap="square" lIns="0" rIns="0" tIns="0" bIns="0" anchor="ctr"/>
          <a:lstStyle/>
          <a:p>
            <a:pPr algn="l">
              <a:lnSpc>
                <a:spcPct val="110000"/>
              </a:lnSpc>
              <a:spcAft>
                <a:spcPts val="0"/>
              </a:spcAft>
            </a:pPr>
            <a:r>
              <a:rPr sz="1900" b="0" i="0">
                <a:solidFill>
                  <a:srgbClr val="FFFFFF"/>
                </a:solidFill>
                <a:latin typeface="Arial"/>
              </a:rPr>
              <a:t>Full GxP validation package</a:t>
            </a:r>
          </a:p>
        </p:txBody>
      </p:sp>
      <p:sp>
        <p:nvSpPr>
          <p:cNvPr id="12" name="Rounded Rectangle 11"/>
          <p:cNvSpPr/>
          <p:nvPr/>
        </p:nvSpPr>
        <p:spPr>
          <a:xfrm>
            <a:off x="7086600" y="2286000"/>
            <a:ext cx="4465015" cy="2651760"/>
          </a:xfrm>
          <a:prstGeom prst="roundRect">
            <a:avLst>
              <a:gd name="adj" fmla="val 6000"/>
            </a:avLst>
          </a:prstGeom>
          <a:solidFill>
            <a:srgbClr val="134E52"/>
          </a:solidFill>
          <a:ln>
            <a:noFill/>
          </a:ln>
        </p:spPr>
        <p:txBody>
          <a:bodyPr rtlCol="0" anchor="ctr"/>
          <a:lstStyle/>
          <a:p>
            <a:pPr algn="ctr"/>
          </a:p>
        </p:txBody>
      </p:sp>
      <p:sp>
        <p:nvSpPr>
          <p:cNvPr id="13" name="TextBox 12"/>
          <p:cNvSpPr txBox="1"/>
          <p:nvPr/>
        </p:nvSpPr>
        <p:spPr>
          <a:xfrm>
            <a:off x="7406640" y="2560320"/>
            <a:ext cx="3870655" cy="365760"/>
          </a:xfrm>
          <a:prstGeom prst="rect">
            <a:avLst/>
          </a:prstGeom>
          <a:noFill/>
        </p:spPr>
        <p:txBody>
          <a:bodyPr wrap="square" lIns="0" rIns="0" tIns="0" bIns="0" anchor="t"/>
          <a:lstStyle/>
          <a:p>
            <a:pPr algn="l">
              <a:lnSpc>
                <a:spcPct val="110000"/>
              </a:lnSpc>
              <a:spcAft>
                <a:spcPts val="0"/>
              </a:spcAft>
            </a:pPr>
            <a:r>
              <a:rPr sz="1700" b="0" i="0">
                <a:solidFill>
                  <a:srgbClr val="BFDCDD"/>
                </a:solidFill>
                <a:latin typeface="Arial"/>
              </a:rPr>
              <a:t>Run it yourself</a:t>
            </a:r>
          </a:p>
        </p:txBody>
      </p:sp>
      <p:sp>
        <p:nvSpPr>
          <p:cNvPr id="14" name="TextBox 13"/>
          <p:cNvSpPr txBox="1"/>
          <p:nvPr/>
        </p:nvSpPr>
        <p:spPr>
          <a:xfrm>
            <a:off x="7406640" y="3017520"/>
            <a:ext cx="3870655" cy="822960"/>
          </a:xfrm>
          <a:prstGeom prst="rect">
            <a:avLst/>
          </a:prstGeom>
          <a:noFill/>
        </p:spPr>
        <p:txBody>
          <a:bodyPr wrap="square" lIns="0" rIns="0" tIns="0" bIns="0" anchor="t"/>
          <a:lstStyle/>
          <a:p>
            <a:pPr algn="l">
              <a:lnSpc>
                <a:spcPct val="110000"/>
              </a:lnSpc>
              <a:spcAft>
                <a:spcPts val="0"/>
              </a:spcAft>
            </a:pPr>
            <a:r>
              <a:rPr sz="2100" b="1" i="0">
                <a:solidFill>
                  <a:srgbClr val="FFFFFF"/>
                </a:solidFill>
                <a:latin typeface="Arial"/>
              </a:rPr>
              <a:t>github.com/RaghulKS/Clinova</a:t>
            </a:r>
          </a:p>
        </p:txBody>
      </p:sp>
      <p:sp>
        <p:nvSpPr>
          <p:cNvPr id="15" name="TextBox 14"/>
          <p:cNvSpPr txBox="1"/>
          <p:nvPr/>
        </p:nvSpPr>
        <p:spPr>
          <a:xfrm>
            <a:off x="7406640" y="3749039"/>
            <a:ext cx="3870655" cy="914400"/>
          </a:xfrm>
          <a:prstGeom prst="rect">
            <a:avLst/>
          </a:prstGeom>
          <a:noFill/>
        </p:spPr>
        <p:txBody>
          <a:bodyPr wrap="square" lIns="0" rIns="0" tIns="0" bIns="0" anchor="t"/>
          <a:lstStyle/>
          <a:p>
            <a:pPr algn="l">
              <a:lnSpc>
                <a:spcPct val="115000"/>
              </a:lnSpc>
              <a:spcAft>
                <a:spcPts val="0"/>
              </a:spcAft>
            </a:pPr>
            <a:r>
              <a:rPr sz="1500" b="0" i="0">
                <a:solidFill>
                  <a:srgbClr val="BFDCDD"/>
                </a:solidFill>
                <a:latin typeface="Arial"/>
              </a:rPr>
              <a:t>MIT license. docker compose up, then open the app; demo mode needs no API keys.</a:t>
            </a:r>
          </a:p>
        </p:txBody>
      </p:sp>
      <p:sp>
        <p:nvSpPr>
          <p:cNvPr id="16" name="TextBox 15"/>
          <p:cNvSpPr txBox="1"/>
          <p:nvPr/>
        </p:nvSpPr>
        <p:spPr>
          <a:xfrm>
            <a:off x="640080" y="457200"/>
            <a:ext cx="8229600" cy="320040"/>
          </a:xfrm>
          <a:prstGeom prst="rect">
            <a:avLst/>
          </a:prstGeom>
          <a:noFill/>
        </p:spPr>
        <p:txBody>
          <a:bodyPr wrap="square" lIns="0" rIns="0" tIns="0" bIns="0" anchor="t"/>
          <a:lstStyle/>
          <a:p>
            <a:pPr algn="l">
              <a:lnSpc>
                <a:spcPct val="110000"/>
              </a:lnSpc>
              <a:spcAft>
                <a:spcPts val="0"/>
              </a:spcAft>
            </a:pPr>
            <a:r>
              <a:rPr sz="1300" b="1" i="0">
                <a:solidFill>
                  <a:srgbClr val="7FC4C7"/>
                </a:solidFill>
                <a:latin typeface="Arial"/>
              </a:rPr>
              <a:t>ROADMAP</a:t>
            </a:r>
          </a:p>
        </p:txBody>
      </p:sp>
      <p:sp>
        <p:nvSpPr>
          <p:cNvPr id="17" name="Title"/>
          <p:cNvSpPr txBox="1"/>
          <p:nvPr/>
        </p:nvSpPr>
        <p:spPr>
          <a:xfrm>
            <a:off x="640080" y="868680"/>
            <a:ext cx="10911535" cy="1143000"/>
          </a:xfrm>
          <a:prstGeom prst="rect">
            <a:avLst/>
          </a:prstGeom>
          <a:noFill/>
        </p:spPr>
        <p:txBody>
          <a:bodyPr wrap="square" lIns="0" rIns="0" tIns="0" bIns="0" anchor="t"/>
          <a:lstStyle/>
          <a:p>
            <a:pPr algn="l">
              <a:lnSpc>
                <a:spcPct val="105000"/>
              </a:lnSpc>
              <a:spcAft>
                <a:spcPts val="0"/>
              </a:spcAft>
            </a:pPr>
            <a:r>
              <a:rPr sz="3000" b="1" i="0">
                <a:solidFill>
                  <a:srgbClr val="FFFFFF"/>
                </a:solidFill>
                <a:latin typeface="Arial"/>
              </a:rPr>
              <a:t>Next: more indications, site-level simulation and structured protocol input</a:t>
            </a:r>
          </a:p>
        </p:txBody>
      </p:sp>
      <p:sp>
        <p:nvSpPr>
          <p:cNvPr id="18" name="TextBox 17"/>
          <p:cNvSpPr txBox="1"/>
          <p:nvPr/>
        </p:nvSpPr>
        <p:spPr>
          <a:xfrm>
            <a:off x="10637215" y="6400800"/>
            <a:ext cx="914400" cy="274320"/>
          </a:xfrm>
          <a:prstGeom prst="rect">
            <a:avLst/>
          </a:prstGeom>
          <a:noFill/>
        </p:spPr>
        <p:txBody>
          <a:bodyPr wrap="square" lIns="0" rIns="0" tIns="0" bIns="0" anchor="t"/>
          <a:lstStyle/>
          <a:p>
            <a:pPr algn="r">
              <a:lnSpc>
                <a:spcPct val="110000"/>
              </a:lnSpc>
              <a:spcAft>
                <a:spcPts val="0"/>
              </a:spcAft>
            </a:pPr>
            <a:r>
              <a:rPr sz="1100" b="0" i="0">
                <a:solidFill>
                  <a:srgbClr val="7FC4C7"/>
                </a:solidFill>
                <a:latin typeface="Arial"/>
              </a:rPr>
              <a:t>12 / 12</a:t>
            </a:r>
          </a:p>
        </p:txBody>
      </p:sp>
      <p:sp>
        <p:nvSpPr>
          <p:cNvPr id="19" name="TextBox 18"/>
          <p:cNvSpPr txBox="1"/>
          <p:nvPr/>
        </p:nvSpPr>
        <p:spPr>
          <a:xfrm>
            <a:off x="640080" y="6400800"/>
            <a:ext cx="8686800" cy="274320"/>
          </a:xfrm>
          <a:prstGeom prst="rect">
            <a:avLst/>
          </a:prstGeom>
          <a:noFill/>
        </p:spPr>
        <p:txBody>
          <a:bodyPr wrap="square" lIns="0" rIns="0" tIns="0" bIns="0" anchor="t"/>
          <a:lstStyle/>
          <a:p>
            <a:pPr algn="l">
              <a:lnSpc>
                <a:spcPct val="110000"/>
              </a:lnSpc>
              <a:spcAft>
                <a:spcPts val="0"/>
              </a:spcAft>
            </a:pPr>
            <a:r>
              <a:rPr sz="1000" b="0" i="0">
                <a:solidFill>
                  <a:srgbClr val="7FC4C7"/>
                </a:solidFill>
                <a:latin typeface="Arial"/>
              </a:rPr>
              <a:t>Sources: docs/ARCHITECTURE.md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Clinova</dc:title>
  <dc:subject/>
  <dc:creator>Clinova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